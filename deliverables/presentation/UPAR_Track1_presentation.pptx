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64705f-851a-b054-9f86-925c31da3946}">
          <p14:sldIdLst>
            <p14:sldId id="256"/>
            <p14:sldId id="257"/>
          </p14:sldIdLst>
        </p14:section>
        <p14:section name="Approach" id="{708d6f2a-377b-26b1-c443-5bcc2b9cbd7e}">
          <p14:sldIdLst>
            <p14:sldId id="258"/>
          </p14:sldIdLst>
        </p14:section>
        <p14:section name="Results" id="{ec8366b1-d548-53a0-4e4f-1240f7a3239f}">
          <p14:sldIdLst>
            <p14:sldId id="259"/>
            <p14:sldId id="260"/>
            <p14:sldId id="261"/>
          </p14:sldIdLst>
        </p14:section>
        <p14:section name="Demo" id="{a3658b7e-309e-bfd6-fef8-cfa1694e0bdf}">
          <p14:sldIdLst>
            <p14:sldId id="262"/>
          </p14:sldIdLst>
        </p14:section>
        <p14:section name="Wrap-up" id="{74d6b540-bb5a-ac46-20aa-ffbc1d75f135}">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2"/>
                </a:solidFill>
                <a:latin typeface="+mn-lt"/>
              </a:defRPr>
            </a:pPr>
            <a:r>
              <a:rPr sz="1300" b="0" i="0" u="none" strike="noStrike">
                <a:solidFill>
                  <a:srgbClr val="2B3A42"/>
                </a:solidFill>
                <a:latin typeface="+mn-lt"/>
              </a:rPr>
              <a:t>Val Challenge_Avg, held-out after N4 + N5</a:t>
            </a:r>
          </a:p>
        </c:rich>
      </c:tx>
      <c:layout/>
      <c:overlay val="0"/>
    </c:title>
    <c:autoTitleDeleted val="0"/>
    <c:plotArea>
      <c:layout/>
      <c:barChart>
        <c:barDir val="col"/>
        <c:grouping val="clustered"/>
        <c:varyColors val="0"/>
        <c:ser>
          <c:idx val="0"/>
          <c:order val="0"/>
          <c:tx>
            <c:strRef>
              <c:f>Sheet1!$B$1</c:f>
              <c:strCache>
                <c:ptCount val="1"/>
                <c:pt idx="0">
                  <c:v>held-out Challenge_Avg</c:v>
                </c:pt>
              </c:strCache>
            </c:strRef>
          </c:tx>
          <c:spPr>
            <a:solidFill>
              <a:srgbClr val="6C7A89"/>
            </a:solidFill>
            <a:effectLst/>
          </c:spPr>
          <c:invertIfNegative val="0"/>
          <c:dLbls>
            <c:numFmt formatCode="0.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6C7A89"/>
              </a:solidFill>
              <a:effectLst/>
            </c:spPr>
          </c:dPt>
          <c:dPt>
            <c:idx val="1"/>
            <c:invertIfNegative val="0"/>
            <c:bubble3D val="0"/>
            <c:spPr>
              <a:solidFill>
                <a:srgbClr val="2A9D8F"/>
              </a:solidFill>
              <a:effectLst/>
            </c:spPr>
          </c:dPt>
          <c:dPt>
            <c:idx val="2"/>
            <c:invertIfNegative val="0"/>
            <c:bubble3D val="0"/>
            <c:spPr>
              <a:solidFill>
                <a:srgbClr val="3D5A80"/>
              </a:solidFill>
              <a:effectLst/>
            </c:spPr>
          </c:dPt>
          <c:dPt>
            <c:idx val="3"/>
            <c:invertIfNegative val="0"/>
            <c:bubble3D val="0"/>
            <c:spPr>
              <a:solidFill>
                <a:srgbClr val="E8A33D"/>
              </a:solidFill>
              <a:effectLst/>
            </c:spPr>
          </c:dPt>
          <c:cat>
            <c:multiLvlStrRef>
              <c:f>Sheet1!$A$2:$A$5</c:f>
              <c:multiLvlStrCache>
                <c:ptCount val="4"/>
                <c:lvl>
                  <c:pt idx="0">
                    <c:v>ConvNeXt-T</c:v>
                  </c:pt>
                  <c:pt idx="1">
                    <c:v>CLIP ViT-B/16</c:v>
                  </c:pt>
                  <c:pt idx="2">
                    <c:v>CLIP ViT-L/14</c:v>
                  </c:pt>
                  <c:pt idx="3">
                    <c:v>ViT-B + ViT-L</c:v>
                  </c:pt>
                </c:lvl>
              </c:multiLvlStrCache>
            </c:multiLvlStrRef>
          </c:cat>
          <c:val>
            <c:numRef>
              <c:f>Sheet1!$B$2:$B$5</c:f>
              <c:numCache>
                <c:formatCode>General</c:formatCode>
                <c:ptCount val="4"/>
                <c:pt idx="0">
                  <c:v>0.8569</c:v>
                </c:pt>
                <c:pt idx="1">
                  <c:v>0.8742</c:v>
                </c:pt>
                <c:pt idx="2">
                  <c:v>0.873</c:v>
                </c:pt>
                <c:pt idx="3">
                  <c:v>0.8803</c:v>
                </c:pt>
              </c:numCache>
            </c:numRef>
          </c:val>
        </c:ser>
        <c:dLbls>
          <c:numFmt formatCode="0.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noMultiLvlLbl val="1"/>
      </c:catAx>
      <c:valAx>
        <c:axId val="2094734552"/>
        <c:scaling>
          <c:orientation val="minMax"/>
          <c:max val="0.89"/>
          <c:min val="0.84"/>
        </c:scaling>
        <c:delete val="0"/>
        <c:axPos val="l"/>
        <c:majorGridlines>
          <c:spPr>
            <a:ln w="6350" cap="flat">
              <a:solidFill>
                <a:srgbClr val="D9DEE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A89"/>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2"/>
                </a:solidFill>
                <a:latin typeface="+mn-lt"/>
              </a:defRPr>
            </a:pPr>
            <a:r>
              <a:rPr sz="1300" b="0" i="0" u="none" strike="noStrike">
                <a:solidFill>
                  <a:srgbClr val="2B3A42"/>
                </a:solidFill>
                <a:latin typeface="+mn-lt"/>
              </a:rPr>
              <a:t>Challenge_Avg gain, in points (2-epoch CLIP ViT-B/16)</a:t>
            </a:r>
          </a:p>
        </c:rich>
      </c:tx>
      <c:layout/>
      <c:overlay val="0"/>
    </c:title>
    <c:autoTitleDeleted val="0"/>
    <c:plotArea>
      <c:layout/>
      <c:barChart>
        <c:barDir val="bar"/>
        <c:grouping val="clustered"/>
        <c:varyColors val="0"/>
        <c:ser>
          <c:idx val="0"/>
          <c:order val="0"/>
          <c:tx>
            <c:strRef>
              <c:f>Sheet1!$B$1</c:f>
              <c:strCache>
                <c:ptCount val="1"/>
                <c:pt idx="0">
                  <c:v>gain (points)</c:v>
                </c:pt>
              </c:strCache>
            </c:strRef>
          </c:tx>
          <c:spPr>
            <a:solidFill>
              <a:srgbClr val="2A9D8F"/>
            </a:solidFill>
            <a:effectLst/>
          </c:spPr>
          <c:invertIfNegative val="0"/>
          <c:dLbls>
            <c:numFmt formatCode="+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N5 decoding</c:v>
                  </c:pt>
                  <c:pt idx="1">
                    <c:v>N1 text head</c:v>
                  </c:pt>
                  <c:pt idx="2">
                    <c:v>N2 balancing</c:v>
                  </c:pt>
                  <c:pt idx="3">
                    <c:v>N3 degradation*</c:v>
                  </c:pt>
                  <c:pt idx="4">
                    <c:v>N4 calibration</c:v>
                  </c:pt>
                </c:lvl>
              </c:multiLvlStrCache>
            </c:multiLvlStrRef>
          </c:cat>
          <c:val>
            <c:numRef>
              <c:f>Sheet1!$B$2:$B$6</c:f>
              <c:numCache>
                <c:formatCode>General</c:formatCode>
                <c:ptCount val="5"/>
                <c:pt idx="0">
                  <c:v>0.07</c:v>
                </c:pt>
                <c:pt idx="1">
                  <c:v>0.34</c:v>
                </c:pt>
                <c:pt idx="2">
                  <c:v>0.44</c:v>
                </c:pt>
                <c:pt idx="3">
                  <c:v>0.6</c:v>
                </c:pt>
                <c:pt idx="4">
                  <c:v>1.67</c:v>
                </c:pt>
              </c:numCache>
            </c:numRef>
          </c:val>
        </c:ser>
        <c:dLbls>
          <c:numFmt formatCode="+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b"/>
        <c:majorGridlines>
          <c:spPr>
            <a:ln w="6350" cap="flat">
              <a:solidFill>
                <a:srgbClr val="D9DE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C7A89"/>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entered Track 1 of the UPAR Challenge: predicting 40 attributes of a pedestrian from a surveillance crop. This talk covers the task, our approach, results on val and on the hidden test set, and what went wrong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has 40 binary labels. The metric is the harmonic mean of label-based mA and instance F1, computed per dataset and averaged. The threshold is fixed at 0.5, so calibration matters. Submissions are code, run on the organizers' GPU with a 5-minute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inference the image goes through the CLIP image encoder and a head whose weights start as CLIP text embeddings of attribute prompts. Then calibrated offsets and group decoding. During training we balance the three datasets and simulate surveillance-quality images. Everything is baked into one TorchScript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Held-out means calibration is fitted on one half of val and scored on the other. CLIP ViT-B/16 beats ConvNeXt by 1.7 points, ViT-L alone is level with ViT-B, and the ensemble of both is best at 0.8803.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full recipe minus one component. Calibration is the largest gain. Degradation augmentation is invisible on clean val, but worth 0.6 points when val images are downscaled and recompressed, which is closer to real CCTV.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CLIP ViT-B/16 submission was scored at 0.7699 on the hidden test set, against 0.874 on val. The gap shows the test images come from a different domain. Inference took 35 seconds of the 5-minute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the simulator on the exported package. It loads run.py exactly as Codabench does, predicts val images, scores them with the challenge metric and projects the run time. Then show results/clip_b16 and the upload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sub03 we trained ViT-L/14 and an ensemble that scored 0.8803 on val. sub05's predictions finished on the platform but were never scored, and from 21 October 13:45 UTC the site stopped responding until after the deadline. So sub03 is our only test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 is that val did not predict test: offsets fitted on val push rare colours hard, which may not transfer. Next we would fit them leaving one dataset out and train with stronger augmentation for new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926080"/>
            <a:ext cx="8046720" cy="12801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Pedestrian Attribute Recognition with a Language-Anchored CLIP</a:t>
            </a:r>
            <a:endParaRPr lang="en-US" sz="3800" dirty="0"/>
          </a:p>
        </p:txBody>
      </p:sp>
      <p:sp>
        <p:nvSpPr>
          <p:cNvPr id="3" name="Text 0"/>
          <p:cNvSpPr/>
          <p:nvPr>
            <p:ph idx="101" type="body" hasCustomPrompt="1"/>
          </p:nvPr>
        </p:nvSpPr>
        <p:spPr>
          <a:xfrm>
            <a:off x="548640" y="2926080"/>
            <a:ext cx="8046720" cy="1280160"/>
          </a:xfrm>
          <a:prstGeom prst="rect">
            <a:avLst/>
          </a:prstGeom>
          <a:noFill/>
          <a:ln/>
        </p:spPr>
        <p:txBody>
          <a:bodyPr wrap="square" lIns="0" tIns="0" rIns="0" bIns="0" rtlCol="0" anchor="t"/>
          <a:lstStyle/>
          <a:p>
            <a:pPr indent="0" marL="0">
              <a:buNone/>
            </a:pPr>
            <a:r>
              <a:rPr lang="en-US" sz="1800" dirty="0">
                <a:solidFill>
                  <a:schemeClr val="accent1"/>
                </a:solidFill>
              </a:rPr>
              <a:t>UPAR Challenge 2027, Track 1 (WACV 2027 Real-World Surveillance Workshop)</a:t>
            </a:r>
            <a:endParaRPr lang="en-US" sz="1800" dirty="0"/>
          </a:p>
          <a:p>
            <a:pPr indent="0" marL="0">
              <a:buNone/>
            </a:pPr>
            <a:r>
              <a:rPr lang="en-US" sz="1600" dirty="0">
                <a:solidFill>
                  <a:schemeClr val="bg2"/>
                </a:solidFill>
              </a:rPr>
              <a:t>Muhammad Ali  ·  Fasih Hasan Khan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task: 40 attributes per pedestrian</a:t>
            </a:r>
            <a:endParaRPr lang="en-US" sz="2600" dirty="0"/>
          </a:p>
        </p:txBody>
      </p:sp>
      <p:sp>
        <p:nvSpPr>
          <p:cNvPr id="3" name="stat-card-0"/>
          <p:cNvSpPr/>
          <p:nvPr/>
        </p:nvSpPr>
        <p:spPr>
          <a:xfrm>
            <a:off x="457200" y="1234440"/>
            <a:ext cx="1920240" cy="2240280"/>
          </a:xfrm>
          <a:prstGeom prst="roundRect">
            <a:avLst>
              <a:gd name="adj" fmla="val 3810"/>
            </a:avLst>
          </a:prstGeom>
          <a:solidFill>
            <a:schemeClr val="bg2"/>
          </a:solidFill>
          <a:ln w="12700">
            <a:solidFill>
              <a:schemeClr val="bg2"/>
            </a:solidFill>
            <a:prstDash val="solid"/>
          </a:ln>
        </p:spPr>
      </p:sp>
      <p:sp>
        <p:nvSpPr>
          <p:cNvPr id="4" name="stat-0"/>
          <p:cNvSpPr txBox="1"/>
          <p:nvPr/>
        </p:nvSpPr>
        <p:spPr>
          <a:xfrm>
            <a:off x="594360" y="1371600"/>
            <a:ext cx="164592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40</a:t>
            </a:r>
            <a:endParaRPr lang="en-US" sz="3600" dirty="0"/>
          </a:p>
        </p:txBody>
      </p:sp>
      <p:sp>
        <p:nvSpPr>
          <p:cNvPr id="5" name="stat-label-0"/>
          <p:cNvSpPr txBox="1"/>
          <p:nvPr/>
        </p:nvSpPr>
        <p:spPr>
          <a:xfrm>
            <a:off x="594360" y="2240280"/>
            <a:ext cx="1645920" cy="1143000"/>
          </a:xfrm>
          <a:prstGeom prst="rect">
            <a:avLst/>
          </a:prstGeom>
          <a:noFill/>
          <a:ln/>
        </p:spPr>
        <p:txBody>
          <a:bodyPr wrap="square" lIns="0" tIns="0" rIns="0" bIns="0" rtlCol="0" anchor="t"/>
          <a:lstStyle/>
          <a:p>
            <a:pPr indent="0" marL="0">
              <a:buNone/>
            </a:pPr>
            <a:r>
              <a:rPr lang="en-US" sz="1300" dirty="0">
                <a:solidFill>
                  <a:schemeClr val="tx2"/>
                </a:solidFill>
              </a:rPr>
              <a:t>binary attributes: age, gender, hair, clothing type and colour, accessories</a:t>
            </a:r>
            <a:endParaRPr lang="en-US" sz="1300" dirty="0"/>
          </a:p>
        </p:txBody>
      </p:sp>
      <p:sp>
        <p:nvSpPr>
          <p:cNvPr id="6" name="stat-card-1"/>
          <p:cNvSpPr/>
          <p:nvPr/>
        </p:nvSpPr>
        <p:spPr>
          <a:xfrm>
            <a:off x="2560320" y="1234440"/>
            <a:ext cx="1920240" cy="2240280"/>
          </a:xfrm>
          <a:prstGeom prst="roundRect">
            <a:avLst>
              <a:gd name="adj" fmla="val 3810"/>
            </a:avLst>
          </a:prstGeom>
          <a:solidFill>
            <a:schemeClr val="bg2"/>
          </a:solidFill>
          <a:ln w="12700">
            <a:solidFill>
              <a:schemeClr val="bg2"/>
            </a:solidFill>
            <a:prstDash val="solid"/>
          </a:ln>
        </p:spPr>
      </p:sp>
      <p:sp>
        <p:nvSpPr>
          <p:cNvPr id="7" name="stat-1"/>
          <p:cNvSpPr txBox="1"/>
          <p:nvPr/>
        </p:nvSpPr>
        <p:spPr>
          <a:xfrm>
            <a:off x="2697480" y="1371600"/>
            <a:ext cx="164592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3</a:t>
            </a:r>
            <a:endParaRPr lang="en-US" sz="3600" dirty="0"/>
          </a:p>
        </p:txBody>
      </p:sp>
      <p:sp>
        <p:nvSpPr>
          <p:cNvPr id="8" name="stat-label-1"/>
          <p:cNvSpPr txBox="1"/>
          <p:nvPr/>
        </p:nvSpPr>
        <p:spPr>
          <a:xfrm>
            <a:off x="2697480" y="2240280"/>
            <a:ext cx="1645920" cy="1143000"/>
          </a:xfrm>
          <a:prstGeom prst="rect">
            <a:avLst/>
          </a:prstGeom>
          <a:noFill/>
          <a:ln/>
        </p:spPr>
        <p:txBody>
          <a:bodyPr wrap="square" lIns="0" tIns="0" rIns="0" bIns="0" rtlCol="0" anchor="t"/>
          <a:lstStyle/>
          <a:p>
            <a:pPr indent="0" marL="0">
              <a:buNone/>
            </a:pPr>
            <a:r>
              <a:rPr lang="en-US" sz="1300" dirty="0">
                <a:solidFill>
                  <a:schemeClr val="tx2"/>
                </a:solidFill>
              </a:rPr>
              <a:t>training datasets with harmonized labels: Market1501, PA100k, PETA</a:t>
            </a:r>
            <a:endParaRPr lang="en-US" sz="1300" dirty="0"/>
          </a:p>
        </p:txBody>
      </p:sp>
      <p:sp>
        <p:nvSpPr>
          <p:cNvPr id="9" name="stat-card-2"/>
          <p:cNvSpPr/>
          <p:nvPr/>
        </p:nvSpPr>
        <p:spPr>
          <a:xfrm>
            <a:off x="4663440" y="1234440"/>
            <a:ext cx="1920240" cy="2240280"/>
          </a:xfrm>
          <a:prstGeom prst="roundRect">
            <a:avLst>
              <a:gd name="adj" fmla="val 3810"/>
            </a:avLst>
          </a:prstGeom>
          <a:solidFill>
            <a:schemeClr val="bg2"/>
          </a:solidFill>
          <a:ln w="12700">
            <a:solidFill>
              <a:schemeClr val="bg2"/>
            </a:solidFill>
            <a:prstDash val="solid"/>
          </a:ln>
        </p:spPr>
      </p:sp>
      <p:sp>
        <p:nvSpPr>
          <p:cNvPr id="10" name="stat-2"/>
          <p:cNvSpPr txBox="1"/>
          <p:nvPr/>
        </p:nvSpPr>
        <p:spPr>
          <a:xfrm>
            <a:off x="4800600" y="1371600"/>
            <a:ext cx="164592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29,248</a:t>
            </a:r>
            <a:endParaRPr lang="en-US" sz="3600" dirty="0"/>
          </a:p>
        </p:txBody>
      </p:sp>
      <p:sp>
        <p:nvSpPr>
          <p:cNvPr id="11" name="stat-label-2"/>
          <p:cNvSpPr txBox="1"/>
          <p:nvPr/>
        </p:nvSpPr>
        <p:spPr>
          <a:xfrm>
            <a:off x="4800600" y="2240280"/>
            <a:ext cx="1645920" cy="1143000"/>
          </a:xfrm>
          <a:prstGeom prst="rect">
            <a:avLst/>
          </a:prstGeom>
          <a:noFill/>
          <a:ln/>
        </p:spPr>
        <p:txBody>
          <a:bodyPr wrap="square" lIns="0" tIns="0" rIns="0" bIns="0" rtlCol="0" anchor="t"/>
          <a:lstStyle/>
          <a:p>
            <a:pPr indent="0" marL="0">
              <a:buNone/>
            </a:pPr>
            <a:r>
              <a:rPr lang="en-US" sz="1300" dirty="0">
                <a:solidFill>
                  <a:schemeClr val="tx2"/>
                </a:solidFill>
              </a:rPr>
              <a:t>hidden test images, scored with a fixed 0.5 threshold</a:t>
            </a:r>
            <a:endParaRPr lang="en-US" sz="1300" dirty="0"/>
          </a:p>
        </p:txBody>
      </p:sp>
      <p:sp>
        <p:nvSpPr>
          <p:cNvPr id="12" name="stat-card-3"/>
          <p:cNvSpPr/>
          <p:nvPr/>
        </p:nvSpPr>
        <p:spPr>
          <a:xfrm>
            <a:off x="6766560" y="1234440"/>
            <a:ext cx="1920240" cy="2240280"/>
          </a:xfrm>
          <a:prstGeom prst="roundRect">
            <a:avLst>
              <a:gd name="adj" fmla="val 3810"/>
            </a:avLst>
          </a:prstGeom>
          <a:solidFill>
            <a:schemeClr val="bg2"/>
          </a:solidFill>
          <a:ln w="12700">
            <a:solidFill>
              <a:schemeClr val="bg2"/>
            </a:solidFill>
            <a:prstDash val="solid"/>
          </a:ln>
        </p:spPr>
      </p:sp>
      <p:sp>
        <p:nvSpPr>
          <p:cNvPr id="13" name="stat-3"/>
          <p:cNvSpPr txBox="1"/>
          <p:nvPr/>
        </p:nvSpPr>
        <p:spPr>
          <a:xfrm>
            <a:off x="6903720" y="1371600"/>
            <a:ext cx="1645920" cy="8229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5 min</a:t>
            </a:r>
            <a:endParaRPr lang="en-US" sz="3600" dirty="0"/>
          </a:p>
        </p:txBody>
      </p:sp>
      <p:sp>
        <p:nvSpPr>
          <p:cNvPr id="14" name="stat-label-3"/>
          <p:cNvSpPr txBox="1"/>
          <p:nvPr/>
        </p:nvSpPr>
        <p:spPr>
          <a:xfrm>
            <a:off x="6903720" y="2240280"/>
            <a:ext cx="1645920" cy="1143000"/>
          </a:xfrm>
          <a:prstGeom prst="rect">
            <a:avLst/>
          </a:prstGeom>
          <a:noFill/>
          <a:ln/>
        </p:spPr>
        <p:txBody>
          <a:bodyPr wrap="square" lIns="0" tIns="0" rIns="0" bIns="0" rtlCol="0" anchor="t"/>
          <a:lstStyle/>
          <a:p>
            <a:pPr indent="0" marL="0">
              <a:buNone/>
            </a:pPr>
            <a:r>
              <a:rPr lang="en-US" sz="1300" dirty="0">
                <a:solidFill>
                  <a:schemeClr val="tx2"/>
                </a:solidFill>
              </a:rPr>
              <a:t>for the whole run: our code in Docker on an A10 GPU, no network</a:t>
            </a:r>
            <a:endParaRPr lang="en-US" sz="1300" dirty="0"/>
          </a:p>
        </p:txBody>
      </p:sp>
      <p:sp>
        <p:nvSpPr>
          <p:cNvPr id="15" name="metric"/>
          <p:cNvSpPr txBox="1"/>
          <p:nvPr/>
        </p:nvSpPr>
        <p:spPr>
          <a:xfrm>
            <a:off x="457200" y="3794760"/>
            <a:ext cx="8229600" cy="685800"/>
          </a:xfrm>
          <a:prstGeom prst="rect">
            <a:avLst/>
          </a:prstGeom>
          <a:noFill/>
          <a:ln/>
        </p:spPr>
        <p:txBody>
          <a:bodyPr wrap="square" lIns="0" tIns="0" rIns="0" bIns="0" rtlCol="0" anchor="ctr"/>
          <a:lstStyle/>
          <a:p>
            <a:pPr indent="0" marL="0">
              <a:buNone/>
            </a:pPr>
            <a:r>
              <a:rPr lang="en-US" sz="1400" b="1" dirty="0">
                <a:solidFill>
                  <a:schemeClr val="tx1"/>
                </a:solidFill>
              </a:rPr>
              <a:t>Metric: </a:t>
            </a:r>
            <a:pPr indent="0" marL="0">
              <a:buNone/>
            </a:pPr>
            <a:r>
              <a:rPr lang="en-US" sz="1400" dirty="0">
                <a:solidFill>
                  <a:schemeClr val="tx1"/>
                </a:solidFill>
              </a:rPr>
              <a:t>Challenge_Avg = harmonic mean of mA (mean of TPR and TNR per attribute) and instance F1, computed per dataset and averaged.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Approach: a CLIP backbone plus five components</a:t>
            </a:r>
            <a:endParaRPr lang="en-US" sz="2600" dirty="0"/>
          </a:p>
        </p:txBody>
      </p:sp>
      <p:sp>
        <p:nvSpPr>
          <p:cNvPr id="3" name="flow-0"/>
          <p:cNvSpPr/>
          <p:nvPr/>
        </p:nvSpPr>
        <p:spPr>
          <a:xfrm>
            <a:off x="457200" y="1234440"/>
            <a:ext cx="1463040" cy="1234440"/>
          </a:xfrm>
          <a:prstGeom prst="roundRect">
            <a:avLst>
              <a:gd name="adj" fmla="val 5926"/>
            </a:avLst>
          </a:prstGeom>
          <a:solidFill>
            <a:schemeClr val="tx2"/>
          </a:solidFill>
          <a:ln w="12700">
            <a:solidFill>
              <a:schemeClr val="tx2"/>
            </a:solidFill>
            <a:prstDash val="solid"/>
          </a:ln>
        </p:spPr>
      </p:sp>
      <p:sp>
        <p:nvSpPr>
          <p:cNvPr id="4" name="flow-h-0"/>
          <p:cNvSpPr txBox="1"/>
          <p:nvPr/>
        </p:nvSpPr>
        <p:spPr>
          <a:xfrm>
            <a:off x="548640" y="1325880"/>
            <a:ext cx="1280160" cy="365760"/>
          </a:xfrm>
          <a:prstGeom prst="rect">
            <a:avLst/>
          </a:prstGeom>
          <a:noFill/>
          <a:ln/>
        </p:spPr>
        <p:txBody>
          <a:bodyPr wrap="square" lIns="0" tIns="0" rIns="0" bIns="0" rtlCol="0" anchor="ctr"/>
          <a:lstStyle/>
          <a:p>
            <a:pPr indent="0" marL="0">
              <a:buNone/>
            </a:pPr>
            <a:r>
              <a:rPr lang="en-US" sz="1500" b="1" dirty="0">
                <a:solidFill>
                  <a:schemeClr val="bg1"/>
                </a:solidFill>
              </a:rPr>
              <a:t>Image</a:t>
            </a:r>
            <a:endParaRPr lang="en-US" sz="1500" dirty="0"/>
          </a:p>
        </p:txBody>
      </p:sp>
      <p:sp>
        <p:nvSpPr>
          <p:cNvPr id="5" name="flow-d-0"/>
          <p:cNvSpPr txBox="1"/>
          <p:nvPr/>
        </p:nvSpPr>
        <p:spPr>
          <a:xfrm>
            <a:off x="548640" y="1719072"/>
            <a:ext cx="1280160" cy="685800"/>
          </a:xfrm>
          <a:prstGeom prst="rect">
            <a:avLst/>
          </a:prstGeom>
          <a:noFill/>
          <a:ln/>
        </p:spPr>
        <p:txBody>
          <a:bodyPr wrap="square" lIns="0" tIns="0" rIns="0" bIns="0" rtlCol="0" anchor="t"/>
          <a:lstStyle/>
          <a:p>
            <a:pPr indent="0" marL="0">
              <a:buNone/>
            </a:pPr>
            <a:r>
              <a:rPr lang="en-US" sz="1200" dirty="0">
                <a:solidFill>
                  <a:schemeClr val="bg2"/>
                </a:solidFill>
              </a:rPr>
              <a:t>uint8, 256×128</a:t>
            </a:r>
            <a:endParaRPr lang="en-US" sz="1200" dirty="0"/>
          </a:p>
        </p:txBody>
      </p:sp>
      <p:sp>
        <p:nvSpPr>
          <p:cNvPr id="6" name="arrow-0"/>
          <p:cNvSpPr/>
          <p:nvPr/>
        </p:nvSpPr>
        <p:spPr>
          <a:xfrm>
            <a:off x="1956816" y="1755648"/>
            <a:ext cx="146304" cy="201168"/>
          </a:xfrm>
          <a:prstGeom prst="rtTriangle">
            <a:avLst/>
          </a:prstGeom>
          <a:solidFill>
            <a:schemeClr val="accent1"/>
          </a:solidFill>
          <a:ln w="12700">
            <a:solidFill>
              <a:schemeClr val="accent1"/>
            </a:solidFill>
            <a:prstDash val="solid"/>
          </a:ln>
        </p:spPr>
      </p:sp>
      <p:sp>
        <p:nvSpPr>
          <p:cNvPr id="7" name="flow-1"/>
          <p:cNvSpPr/>
          <p:nvPr/>
        </p:nvSpPr>
        <p:spPr>
          <a:xfrm>
            <a:off x="2139696" y="1234440"/>
            <a:ext cx="1463040" cy="1234440"/>
          </a:xfrm>
          <a:prstGeom prst="roundRect">
            <a:avLst>
              <a:gd name="adj" fmla="val 5926"/>
            </a:avLst>
          </a:prstGeom>
          <a:solidFill>
            <a:schemeClr val="bg2"/>
          </a:solidFill>
          <a:ln w="12700">
            <a:solidFill>
              <a:schemeClr val="bg2"/>
            </a:solidFill>
            <a:prstDash val="solid"/>
          </a:ln>
        </p:spPr>
      </p:sp>
      <p:sp>
        <p:nvSpPr>
          <p:cNvPr id="8" name="flow-h-1"/>
          <p:cNvSpPr txBox="1"/>
          <p:nvPr/>
        </p:nvSpPr>
        <p:spPr>
          <a:xfrm>
            <a:off x="2231136" y="1325880"/>
            <a:ext cx="1280160" cy="365760"/>
          </a:xfrm>
          <a:prstGeom prst="rect">
            <a:avLst/>
          </a:prstGeom>
          <a:noFill/>
          <a:ln/>
        </p:spPr>
        <p:txBody>
          <a:bodyPr wrap="square" lIns="0" tIns="0" rIns="0" bIns="0" rtlCol="0" anchor="ctr"/>
          <a:lstStyle/>
          <a:p>
            <a:pPr indent="0" marL="0">
              <a:buNone/>
            </a:pPr>
            <a:r>
              <a:rPr lang="en-US" sz="1500" b="1" dirty="0">
                <a:solidFill>
                  <a:schemeClr val="tx1"/>
                </a:solidFill>
              </a:rPr>
              <a:t>CLIP ViT</a:t>
            </a:r>
            <a:endParaRPr lang="en-US" sz="1500" dirty="0"/>
          </a:p>
        </p:txBody>
      </p:sp>
      <p:sp>
        <p:nvSpPr>
          <p:cNvPr id="9" name="flow-d-1"/>
          <p:cNvSpPr txBox="1"/>
          <p:nvPr/>
        </p:nvSpPr>
        <p:spPr>
          <a:xfrm>
            <a:off x="2231136" y="1719072"/>
            <a:ext cx="1280160" cy="685800"/>
          </a:xfrm>
          <a:prstGeom prst="rect">
            <a:avLst/>
          </a:prstGeom>
          <a:noFill/>
          <a:ln/>
        </p:spPr>
        <p:txBody>
          <a:bodyPr wrap="square" lIns="0" tIns="0" rIns="0" bIns="0" rtlCol="0" anchor="t"/>
          <a:lstStyle/>
          <a:p>
            <a:pPr indent="0" marL="0">
              <a:buNone/>
            </a:pPr>
            <a:r>
              <a:rPr lang="en-US" sz="1200" dirty="0">
                <a:solidFill>
                  <a:schemeClr val="tx2"/>
                </a:solidFill>
              </a:rPr>
              <a:t>B/16 or L/14 image encoder</a:t>
            </a:r>
            <a:endParaRPr lang="en-US" sz="1200" dirty="0"/>
          </a:p>
        </p:txBody>
      </p:sp>
      <p:sp>
        <p:nvSpPr>
          <p:cNvPr id="10" name="arrow-1"/>
          <p:cNvSpPr/>
          <p:nvPr/>
        </p:nvSpPr>
        <p:spPr>
          <a:xfrm>
            <a:off x="3639312" y="1755648"/>
            <a:ext cx="146304" cy="201168"/>
          </a:xfrm>
          <a:prstGeom prst="rtTriangle">
            <a:avLst/>
          </a:prstGeom>
          <a:solidFill>
            <a:schemeClr val="accent1"/>
          </a:solidFill>
          <a:ln w="12700">
            <a:solidFill>
              <a:schemeClr val="accent1"/>
            </a:solidFill>
            <a:prstDash val="solid"/>
          </a:ln>
        </p:spPr>
      </p:sp>
      <p:sp>
        <p:nvSpPr>
          <p:cNvPr id="11" name="flow-2"/>
          <p:cNvSpPr/>
          <p:nvPr/>
        </p:nvSpPr>
        <p:spPr>
          <a:xfrm>
            <a:off x="3822192" y="1234440"/>
            <a:ext cx="1463040" cy="1234440"/>
          </a:xfrm>
          <a:prstGeom prst="roundRect">
            <a:avLst>
              <a:gd name="adj" fmla="val 5926"/>
            </a:avLst>
          </a:prstGeom>
          <a:solidFill>
            <a:schemeClr val="bg2"/>
          </a:solidFill>
          <a:ln w="12700">
            <a:solidFill>
              <a:schemeClr val="bg2"/>
            </a:solidFill>
            <a:prstDash val="solid"/>
          </a:ln>
        </p:spPr>
      </p:sp>
      <p:sp>
        <p:nvSpPr>
          <p:cNvPr id="12" name="flow-h-2"/>
          <p:cNvSpPr txBox="1"/>
          <p:nvPr/>
        </p:nvSpPr>
        <p:spPr>
          <a:xfrm>
            <a:off x="3913632" y="1325880"/>
            <a:ext cx="1280160" cy="365760"/>
          </a:xfrm>
          <a:prstGeom prst="rect">
            <a:avLst/>
          </a:prstGeom>
          <a:noFill/>
          <a:ln/>
        </p:spPr>
        <p:txBody>
          <a:bodyPr wrap="square" lIns="0" tIns="0" rIns="0" bIns="0" rtlCol="0" anchor="ctr"/>
          <a:lstStyle/>
          <a:p>
            <a:pPr indent="0" marL="0">
              <a:buNone/>
            </a:pPr>
            <a:r>
              <a:rPr lang="en-US" sz="1500" b="1" dirty="0">
                <a:solidFill>
                  <a:schemeClr val="tx1"/>
                </a:solidFill>
              </a:rPr>
              <a:t>N1 head</a:t>
            </a:r>
            <a:endParaRPr lang="en-US" sz="1500" dirty="0"/>
          </a:p>
        </p:txBody>
      </p:sp>
      <p:sp>
        <p:nvSpPr>
          <p:cNvPr id="13" name="flow-d-2"/>
          <p:cNvSpPr txBox="1"/>
          <p:nvPr/>
        </p:nvSpPr>
        <p:spPr>
          <a:xfrm>
            <a:off x="3913632" y="1719072"/>
            <a:ext cx="1280160" cy="685800"/>
          </a:xfrm>
          <a:prstGeom prst="rect">
            <a:avLst/>
          </a:prstGeom>
          <a:noFill/>
          <a:ln/>
        </p:spPr>
        <p:txBody>
          <a:bodyPr wrap="square" lIns="0" tIns="0" rIns="0" bIns="0" rtlCol="0" anchor="t"/>
          <a:lstStyle/>
          <a:p>
            <a:pPr indent="0" marL="0">
              <a:buNone/>
            </a:pPr>
            <a:r>
              <a:rPr lang="en-US" sz="1200" dirty="0">
                <a:solidFill>
                  <a:schemeClr val="tx2"/>
                </a:solidFill>
              </a:rPr>
              <a:t>text-initialised: s·cos(f, w_k) + b_k</a:t>
            </a:r>
            <a:endParaRPr lang="en-US" sz="1200" dirty="0"/>
          </a:p>
        </p:txBody>
      </p:sp>
      <p:sp>
        <p:nvSpPr>
          <p:cNvPr id="14" name="arrow-2"/>
          <p:cNvSpPr/>
          <p:nvPr/>
        </p:nvSpPr>
        <p:spPr>
          <a:xfrm>
            <a:off x="5321808" y="1755648"/>
            <a:ext cx="146304" cy="201168"/>
          </a:xfrm>
          <a:prstGeom prst="rtTriangle">
            <a:avLst/>
          </a:prstGeom>
          <a:solidFill>
            <a:schemeClr val="accent1"/>
          </a:solidFill>
          <a:ln w="12700">
            <a:solidFill>
              <a:schemeClr val="accent1"/>
            </a:solidFill>
            <a:prstDash val="solid"/>
          </a:ln>
        </p:spPr>
      </p:sp>
      <p:sp>
        <p:nvSpPr>
          <p:cNvPr id="15" name="flow-3"/>
          <p:cNvSpPr/>
          <p:nvPr/>
        </p:nvSpPr>
        <p:spPr>
          <a:xfrm>
            <a:off x="5504688" y="1234440"/>
            <a:ext cx="1463040" cy="1234440"/>
          </a:xfrm>
          <a:prstGeom prst="roundRect">
            <a:avLst>
              <a:gd name="adj" fmla="val 5926"/>
            </a:avLst>
          </a:prstGeom>
          <a:solidFill>
            <a:schemeClr val="bg2"/>
          </a:solidFill>
          <a:ln w="12700">
            <a:solidFill>
              <a:schemeClr val="bg2"/>
            </a:solidFill>
            <a:prstDash val="solid"/>
          </a:ln>
        </p:spPr>
      </p:sp>
      <p:sp>
        <p:nvSpPr>
          <p:cNvPr id="16" name="flow-h-3"/>
          <p:cNvSpPr txBox="1"/>
          <p:nvPr/>
        </p:nvSpPr>
        <p:spPr>
          <a:xfrm>
            <a:off x="5596128" y="1325880"/>
            <a:ext cx="1280160" cy="365760"/>
          </a:xfrm>
          <a:prstGeom prst="rect">
            <a:avLst/>
          </a:prstGeom>
          <a:noFill/>
          <a:ln/>
        </p:spPr>
        <p:txBody>
          <a:bodyPr wrap="square" lIns="0" tIns="0" rIns="0" bIns="0" rtlCol="0" anchor="ctr"/>
          <a:lstStyle/>
          <a:p>
            <a:pPr indent="0" marL="0">
              <a:buNone/>
            </a:pPr>
            <a:r>
              <a:rPr lang="en-US" sz="1500" b="1" dirty="0">
                <a:solidFill>
                  <a:schemeClr val="tx1"/>
                </a:solidFill>
              </a:rPr>
              <a:t>N4 offsets</a:t>
            </a:r>
            <a:endParaRPr lang="en-US" sz="1500" dirty="0"/>
          </a:p>
        </p:txBody>
      </p:sp>
      <p:sp>
        <p:nvSpPr>
          <p:cNvPr id="17" name="flow-d-3"/>
          <p:cNvSpPr txBox="1"/>
          <p:nvPr/>
        </p:nvSpPr>
        <p:spPr>
          <a:xfrm>
            <a:off x="5596128" y="1719072"/>
            <a:ext cx="1280160" cy="685800"/>
          </a:xfrm>
          <a:prstGeom prst="rect">
            <a:avLst/>
          </a:prstGeom>
          <a:noFill/>
          <a:ln/>
        </p:spPr>
        <p:txBody>
          <a:bodyPr wrap="square" lIns="0" tIns="0" rIns="0" bIns="0" rtlCol="0" anchor="t"/>
          <a:lstStyle/>
          <a:p>
            <a:pPr indent="0" marL="0">
              <a:buNone/>
            </a:pPr>
            <a:r>
              <a:rPr lang="en-US" sz="1200" dirty="0">
                <a:solidFill>
                  <a:schemeClr val="tx2"/>
                </a:solidFill>
              </a:rPr>
              <a:t>one global logit shift per attribute</a:t>
            </a:r>
            <a:endParaRPr lang="en-US" sz="1200" dirty="0"/>
          </a:p>
        </p:txBody>
      </p:sp>
      <p:sp>
        <p:nvSpPr>
          <p:cNvPr id="18" name="arrow-3"/>
          <p:cNvSpPr/>
          <p:nvPr/>
        </p:nvSpPr>
        <p:spPr>
          <a:xfrm>
            <a:off x="7004304" y="1755648"/>
            <a:ext cx="146304" cy="201168"/>
          </a:xfrm>
          <a:prstGeom prst="rtTriangle">
            <a:avLst/>
          </a:prstGeom>
          <a:solidFill>
            <a:schemeClr val="accent1"/>
          </a:solidFill>
          <a:ln w="12700">
            <a:solidFill>
              <a:schemeClr val="accent1"/>
            </a:solidFill>
            <a:prstDash val="solid"/>
          </a:ln>
        </p:spPr>
      </p:sp>
      <p:sp>
        <p:nvSpPr>
          <p:cNvPr id="19" name="flow-4"/>
          <p:cNvSpPr/>
          <p:nvPr/>
        </p:nvSpPr>
        <p:spPr>
          <a:xfrm>
            <a:off x="7187184" y="1234440"/>
            <a:ext cx="1463040" cy="1234440"/>
          </a:xfrm>
          <a:prstGeom prst="roundRect">
            <a:avLst>
              <a:gd name="adj" fmla="val 5926"/>
            </a:avLst>
          </a:prstGeom>
          <a:solidFill>
            <a:schemeClr val="bg2"/>
          </a:solidFill>
          <a:ln w="12700">
            <a:solidFill>
              <a:schemeClr val="bg2"/>
            </a:solidFill>
            <a:prstDash val="solid"/>
          </a:ln>
        </p:spPr>
      </p:sp>
      <p:sp>
        <p:nvSpPr>
          <p:cNvPr id="20" name="flow-h-4"/>
          <p:cNvSpPr txBox="1"/>
          <p:nvPr/>
        </p:nvSpPr>
        <p:spPr>
          <a:xfrm>
            <a:off x="7278624" y="1325880"/>
            <a:ext cx="1280160" cy="365760"/>
          </a:xfrm>
          <a:prstGeom prst="rect">
            <a:avLst/>
          </a:prstGeom>
          <a:noFill/>
          <a:ln/>
        </p:spPr>
        <p:txBody>
          <a:bodyPr wrap="square" lIns="0" tIns="0" rIns="0" bIns="0" rtlCol="0" anchor="ctr"/>
          <a:lstStyle/>
          <a:p>
            <a:pPr indent="0" marL="0">
              <a:buNone/>
            </a:pPr>
            <a:r>
              <a:rPr lang="en-US" sz="1500" b="1" dirty="0">
                <a:solidFill>
                  <a:schemeClr val="tx1"/>
                </a:solidFill>
              </a:rPr>
              <a:t>N5 decoding</a:t>
            </a:r>
            <a:endParaRPr lang="en-US" sz="1500" dirty="0"/>
          </a:p>
        </p:txBody>
      </p:sp>
      <p:sp>
        <p:nvSpPr>
          <p:cNvPr id="21" name="flow-d-4"/>
          <p:cNvSpPr txBox="1"/>
          <p:nvPr/>
        </p:nvSpPr>
        <p:spPr>
          <a:xfrm>
            <a:off x="7278624" y="1719072"/>
            <a:ext cx="1280160" cy="685800"/>
          </a:xfrm>
          <a:prstGeom prst="rect">
            <a:avLst/>
          </a:prstGeom>
          <a:noFill/>
          <a:ln/>
        </p:spPr>
        <p:txBody>
          <a:bodyPr wrap="square" lIns="0" tIns="0" rIns="0" bIns="0" rtlCol="0" anchor="t"/>
          <a:lstStyle/>
          <a:p>
            <a:pPr indent="0" marL="0">
              <a:buNone/>
            </a:pPr>
            <a:r>
              <a:rPr lang="en-US" sz="1200" dirty="0">
                <a:solidFill>
                  <a:schemeClr val="tx2"/>
                </a:solidFill>
              </a:rPr>
              <a:t>exclusive groups get an arg-max</a:t>
            </a:r>
            <a:endParaRPr lang="en-US" sz="1200" dirty="0"/>
          </a:p>
        </p:txBody>
      </p:sp>
      <p:sp>
        <p:nvSpPr>
          <p:cNvPr id="22" name="dot-0"/>
          <p:cNvSpPr/>
          <p:nvPr/>
        </p:nvSpPr>
        <p:spPr>
          <a:xfrm>
            <a:off x="457200" y="2852928"/>
            <a:ext cx="201168" cy="201168"/>
          </a:xfrm>
          <a:prstGeom prst="ellipse">
            <a:avLst/>
          </a:prstGeom>
          <a:solidFill>
            <a:schemeClr val="accent1"/>
          </a:solidFill>
          <a:ln w="12700">
            <a:solidFill>
              <a:schemeClr val="accent1"/>
            </a:solidFill>
            <a:prstDash val="solid"/>
          </a:ln>
        </p:spPr>
      </p:sp>
      <p:sp>
        <p:nvSpPr>
          <p:cNvPr id="23" name="train-0"/>
          <p:cNvSpPr txBox="1"/>
          <p:nvPr/>
        </p:nvSpPr>
        <p:spPr>
          <a:xfrm>
            <a:off x="822960" y="2788920"/>
            <a:ext cx="7863840" cy="365760"/>
          </a:xfrm>
          <a:prstGeom prst="rect">
            <a:avLst/>
          </a:prstGeom>
          <a:noFill/>
          <a:ln/>
        </p:spPr>
        <p:txBody>
          <a:bodyPr wrap="square" lIns="0" tIns="0" rIns="0" bIns="0" rtlCol="0" anchor="ctr"/>
          <a:lstStyle/>
          <a:p>
            <a:pPr indent="0" marL="0">
              <a:buNone/>
            </a:pPr>
            <a:r>
              <a:rPr lang="en-US" sz="1400" b="1" dirty="0">
                <a:solidFill>
                  <a:schemeClr val="tx1"/>
                </a:solidFill>
              </a:rPr>
              <a:t>N2  Domain-balanced sampling:  </a:t>
            </a:r>
            <a:pPr indent="0" marL="0">
              <a:buNone/>
            </a:pPr>
            <a:r>
              <a:rPr lang="en-US" sz="1400" dirty="0">
                <a:solidFill>
                  <a:schemeClr val="tx2"/>
                </a:solidFill>
              </a:rPr>
              <a:t>each dataset is a third of every epoch, matching the metric's equal weighting</a:t>
            </a:r>
            <a:endParaRPr lang="en-US" sz="1400" dirty="0"/>
          </a:p>
        </p:txBody>
      </p:sp>
      <p:sp>
        <p:nvSpPr>
          <p:cNvPr id="24" name="dot-1"/>
          <p:cNvSpPr/>
          <p:nvPr/>
        </p:nvSpPr>
        <p:spPr>
          <a:xfrm>
            <a:off x="457200" y="3474720"/>
            <a:ext cx="201168" cy="201168"/>
          </a:xfrm>
          <a:prstGeom prst="ellipse">
            <a:avLst/>
          </a:prstGeom>
          <a:solidFill>
            <a:schemeClr val="accent1"/>
          </a:solidFill>
          <a:ln w="12700">
            <a:solidFill>
              <a:schemeClr val="accent1"/>
            </a:solidFill>
            <a:prstDash val="solid"/>
          </a:ln>
        </p:spPr>
      </p:sp>
      <p:sp>
        <p:nvSpPr>
          <p:cNvPr id="25" name="train-1"/>
          <p:cNvSpPr txBox="1"/>
          <p:nvPr/>
        </p:nvSpPr>
        <p:spPr>
          <a:xfrm>
            <a:off x="822960" y="3410712"/>
            <a:ext cx="7863840" cy="365760"/>
          </a:xfrm>
          <a:prstGeom prst="rect">
            <a:avLst/>
          </a:prstGeom>
          <a:noFill/>
          <a:ln/>
        </p:spPr>
        <p:txBody>
          <a:bodyPr wrap="square" lIns="0" tIns="0" rIns="0" bIns="0" rtlCol="0" anchor="ctr"/>
          <a:lstStyle/>
          <a:p>
            <a:pPr indent="0" marL="0">
              <a:buNone/>
            </a:pPr>
            <a:r>
              <a:rPr lang="en-US" sz="1400" b="1" dirty="0">
                <a:solidFill>
                  <a:schemeClr val="tx1"/>
                </a:solidFill>
              </a:rPr>
              <a:t>N3  Surveillance degradation:  </a:t>
            </a:r>
            <a:pPr indent="0" marL="0">
              <a:buNone/>
            </a:pPr>
            <a:r>
              <a:rPr lang="en-US" sz="1400" dirty="0">
                <a:solidFill>
                  <a:schemeClr val="tx2"/>
                </a:solidFill>
              </a:rPr>
              <a:t>low resolution, JPEG artefacts, blur and lighting changes during training</a:t>
            </a:r>
            <a:endParaRPr lang="en-US" sz="1400" dirty="0"/>
          </a:p>
        </p:txBody>
      </p:sp>
      <p:sp>
        <p:nvSpPr>
          <p:cNvPr id="26" name="dot-2"/>
          <p:cNvSpPr/>
          <p:nvPr/>
        </p:nvSpPr>
        <p:spPr>
          <a:xfrm>
            <a:off x="457200" y="4096512"/>
            <a:ext cx="201168" cy="201168"/>
          </a:xfrm>
          <a:prstGeom prst="ellipse">
            <a:avLst/>
          </a:prstGeom>
          <a:solidFill>
            <a:schemeClr val="accent1"/>
          </a:solidFill>
          <a:ln w="12700">
            <a:solidFill>
              <a:schemeClr val="accent1"/>
            </a:solidFill>
            <a:prstDash val="solid"/>
          </a:ln>
        </p:spPr>
      </p:sp>
      <p:sp>
        <p:nvSpPr>
          <p:cNvPr id="27" name="train-2"/>
          <p:cNvSpPr txBox="1"/>
          <p:nvPr/>
        </p:nvSpPr>
        <p:spPr>
          <a:xfrm>
            <a:off x="822960" y="4032504"/>
            <a:ext cx="7863840" cy="365760"/>
          </a:xfrm>
          <a:prstGeom prst="rect">
            <a:avLst/>
          </a:prstGeom>
          <a:noFill/>
          <a:ln/>
        </p:spPr>
        <p:txBody>
          <a:bodyPr wrap="square" lIns="0" tIns="0" rIns="0" bIns="0" rtlCol="0" anchor="ctr"/>
          <a:lstStyle/>
          <a:p>
            <a:pPr indent="0" marL="0">
              <a:buNone/>
            </a:pPr>
            <a:r>
              <a:rPr lang="en-US" sz="1400" b="1" dirty="0">
                <a:solidFill>
                  <a:schemeClr val="tx1"/>
                </a:solidFill>
              </a:rPr>
              <a:t>Export:  </a:t>
            </a:r>
            <a:pPr indent="0" marL="0">
              <a:buNone/>
            </a:pPr>
            <a:r>
              <a:rPr lang="en-US" sz="1400" dirty="0">
                <a:solidFill>
                  <a:schemeClr val="tx2"/>
                </a:solidFill>
              </a:rPr>
              <a:t>one fp16 TorchScript module with offsets and decoding built in; run.py overlaps JPEG decoding with the GPU</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Validation: the ViT-B + ViT-L ensemble scores best</a:t>
            </a:r>
            <a:endParaRPr lang="en-US" sz="2600" dirty="0"/>
          </a:p>
        </p:txBody>
      </p:sp>
      <p:graphicFrame>
        <p:nvGraphicFramePr>
          <p:cNvPr id="3" name="val-chart" descr=""/>
          <p:cNvGraphicFramePr/>
          <p:nvPr/>
        </p:nvGraphicFramePr>
        <p:xfrm>
          <a:off x="45720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val-stat-0"/>
          <p:cNvSpPr txBox="1"/>
          <p:nvPr/>
        </p:nvSpPr>
        <p:spPr>
          <a:xfrm>
            <a:off x="5943600" y="1188720"/>
            <a:ext cx="27432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0.530</a:t>
            </a:r>
            <a:endParaRPr lang="en-US" sz="3000" dirty="0"/>
          </a:p>
        </p:txBody>
      </p:sp>
      <p:sp>
        <p:nvSpPr>
          <p:cNvPr id="5" name="val-stat-label-0"/>
          <p:cNvSpPr txBox="1"/>
          <p:nvPr/>
        </p:nvSpPr>
        <p:spPr>
          <a:xfrm>
            <a:off x="5943600" y="1737360"/>
            <a:ext cx="2743200" cy="411480"/>
          </a:xfrm>
          <a:prstGeom prst="rect">
            <a:avLst/>
          </a:prstGeom>
          <a:noFill/>
          <a:ln/>
        </p:spPr>
        <p:txBody>
          <a:bodyPr wrap="square" lIns="0" tIns="0" rIns="0" bIns="0" rtlCol="0" anchor="ctr"/>
          <a:lstStyle/>
          <a:p>
            <a:pPr indent="0" marL="0">
              <a:buNone/>
            </a:pPr>
            <a:r>
              <a:rPr lang="en-US" sz="1300" dirty="0">
                <a:solidFill>
                  <a:schemeClr val="tx2"/>
                </a:solidFill>
              </a:rPr>
              <a:t>organizers' prior-only baseline</a:t>
            </a:r>
            <a:endParaRPr lang="en-US" sz="1300" dirty="0"/>
          </a:p>
        </p:txBody>
      </p:sp>
      <p:sp>
        <p:nvSpPr>
          <p:cNvPr id="6" name="val-stat-1"/>
          <p:cNvSpPr txBox="1"/>
          <p:nvPr/>
        </p:nvSpPr>
        <p:spPr>
          <a:xfrm>
            <a:off x="5943600" y="2331720"/>
            <a:ext cx="27432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0.638</a:t>
            </a:r>
            <a:endParaRPr lang="en-US" sz="3000" dirty="0"/>
          </a:p>
        </p:txBody>
      </p:sp>
      <p:sp>
        <p:nvSpPr>
          <p:cNvPr id="7" name="val-stat-label-1"/>
          <p:cNvSpPr txBox="1"/>
          <p:nvPr/>
        </p:nvSpPr>
        <p:spPr>
          <a:xfrm>
            <a:off x="5943600" y="2880360"/>
            <a:ext cx="2743200" cy="411480"/>
          </a:xfrm>
          <a:prstGeom prst="rect">
            <a:avLst/>
          </a:prstGeom>
          <a:noFill/>
          <a:ln/>
        </p:spPr>
        <p:txBody>
          <a:bodyPr wrap="square" lIns="0" tIns="0" rIns="0" bIns="0" rtlCol="0" anchor="ctr"/>
          <a:lstStyle/>
          <a:p>
            <a:pPr indent="0" marL="0">
              <a:buNone/>
            </a:pPr>
            <a:r>
              <a:rPr lang="en-US" sz="1300" dirty="0">
                <a:solidFill>
                  <a:schemeClr val="tx2"/>
                </a:solidFill>
              </a:rPr>
              <a:t>CLIP zero-shot with our text head, no training</a:t>
            </a:r>
            <a:endParaRPr lang="en-US" sz="1300" dirty="0"/>
          </a:p>
        </p:txBody>
      </p:sp>
      <p:sp>
        <p:nvSpPr>
          <p:cNvPr id="8" name="val-stat-2"/>
          <p:cNvSpPr txBox="1"/>
          <p:nvPr/>
        </p:nvSpPr>
        <p:spPr>
          <a:xfrm>
            <a:off x="5943600" y="3474720"/>
            <a:ext cx="27432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+0.017</a:t>
            </a:r>
            <a:endParaRPr lang="en-US" sz="3000" dirty="0"/>
          </a:p>
        </p:txBody>
      </p:sp>
      <p:sp>
        <p:nvSpPr>
          <p:cNvPr id="9" name="val-stat-label-2"/>
          <p:cNvSpPr txBox="1"/>
          <p:nvPr/>
        </p:nvSpPr>
        <p:spPr>
          <a:xfrm>
            <a:off x="5943600" y="4023360"/>
            <a:ext cx="2743200" cy="411480"/>
          </a:xfrm>
          <a:prstGeom prst="rect">
            <a:avLst/>
          </a:prstGeom>
          <a:noFill/>
          <a:ln/>
        </p:spPr>
        <p:txBody>
          <a:bodyPr wrap="square" lIns="0" tIns="0" rIns="0" bIns="0" rtlCol="0" anchor="ctr"/>
          <a:lstStyle/>
          <a:p>
            <a:pPr indent="0" marL="0">
              <a:buNone/>
            </a:pPr>
            <a:r>
              <a:rPr lang="en-US" sz="1300" dirty="0">
                <a:solidFill>
                  <a:schemeClr val="tx2"/>
                </a:solidFill>
              </a:rPr>
              <a:t>from calibration (N4) on Model B</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Ablations: each component's gain</a:t>
            </a:r>
            <a:endParaRPr lang="en-US" sz="2600" dirty="0"/>
          </a:p>
        </p:txBody>
      </p:sp>
      <p:graphicFrame>
        <p:nvGraphicFramePr>
          <p:cNvPr id="3" name="ablation-chart" descr=""/>
          <p:cNvGraphicFramePr/>
          <p:nvPr/>
        </p:nvGraphicFramePr>
        <p:xfrm>
          <a:off x="457200" y="109728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ablation-takeaways"/>
          <p:cNvSpPr/>
          <p:nvPr/>
        </p:nvSpPr>
        <p:spPr>
          <a:xfrm>
            <a:off x="6172200" y="1188720"/>
            <a:ext cx="2514600" cy="3291840"/>
          </a:xfrm>
          <a:prstGeom prst="roundRect">
            <a:avLst>
              <a:gd name="adj" fmla="val 2909"/>
            </a:avLst>
          </a:prstGeom>
          <a:solidFill>
            <a:schemeClr val="bg2"/>
          </a:solidFill>
          <a:ln w="12700">
            <a:solidFill>
              <a:schemeClr val="bg2"/>
            </a:solidFill>
            <a:prstDash val="solid"/>
          </a:ln>
        </p:spPr>
      </p:sp>
      <p:sp>
        <p:nvSpPr>
          <p:cNvPr id="5" name="ablation-notes"/>
          <p:cNvSpPr txBox="1"/>
          <p:nvPr/>
        </p:nvSpPr>
        <p:spPr>
          <a:xfrm>
            <a:off x="6355080" y="1371600"/>
            <a:ext cx="219456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Calibration gives the most, because the 0.5 threshold is fixed.</a:t>
            </a:r>
            <a:endParaRPr lang="en-US" sz="1400" dirty="0"/>
          </a:p>
          <a:p>
            <a:pPr marL="342900" indent="-342900">
              <a:spcAft>
                <a:spcPts val="800"/>
              </a:spcAft>
              <a:buSzPct val="100000"/>
              <a:buChar char="•"/>
            </a:pPr>
            <a:r>
              <a:rPr lang="en-US" sz="1400" dirty="0">
                <a:solidFill>
                  <a:schemeClr val="tx1"/>
                </a:solidFill>
              </a:rPr>
              <a:t>*N3 adds nothing on clean val, but 0.6 points on degraded val.</a:t>
            </a:r>
            <a:endParaRPr lang="en-US" sz="1400" dirty="0"/>
          </a:p>
          <a:p>
            <a:pPr marL="342900" indent="-342900">
              <a:spcAft>
                <a:spcPts val="800"/>
              </a:spcAft>
              <a:buSzPct val="100000"/>
              <a:buChar char="•"/>
            </a:pPr>
            <a:r>
              <a:rPr lang="en-US" sz="1400" dirty="0">
                <a:solidFill>
                  <a:schemeClr val="tx1"/>
                </a:solidFill>
              </a:rPr>
              <a:t>Square-root sampling scored 0.15 points below equal sampling.</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Hidden test set: accepted and scored</a:t>
            </a:r>
            <a:endParaRPr lang="en-US" sz="2600" dirty="0"/>
          </a:p>
        </p:txBody>
      </p:sp>
      <p:sp>
        <p:nvSpPr>
          <p:cNvPr id="3" name="test-stat-0"/>
          <p:cNvSpPr txBox="1"/>
          <p:nvPr/>
        </p:nvSpPr>
        <p:spPr>
          <a:xfrm>
            <a:off x="457200" y="1143000"/>
            <a:ext cx="3108960" cy="5943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0.7699</a:t>
            </a:r>
            <a:endParaRPr lang="en-US" sz="3400" dirty="0"/>
          </a:p>
        </p:txBody>
      </p:sp>
      <p:sp>
        <p:nvSpPr>
          <p:cNvPr id="4" name="test-label-0"/>
          <p:cNvSpPr txBox="1"/>
          <p:nvPr/>
        </p:nvSpPr>
        <p:spPr>
          <a:xfrm>
            <a:off x="457200" y="1737360"/>
            <a:ext cx="3108960" cy="411480"/>
          </a:xfrm>
          <a:prstGeom prst="rect">
            <a:avLst/>
          </a:prstGeom>
          <a:noFill/>
          <a:ln/>
        </p:spPr>
        <p:txBody>
          <a:bodyPr wrap="square" lIns="0" tIns="0" rIns="0" bIns="0" rtlCol="0" anchor="ctr"/>
          <a:lstStyle/>
          <a:p>
            <a:pPr indent="0" marL="0">
              <a:buNone/>
            </a:pPr>
            <a:r>
              <a:rPr lang="en-US" sz="1300" dirty="0">
                <a:solidFill>
                  <a:schemeClr val="tx2"/>
                </a:solidFill>
              </a:rPr>
              <a:t>our test Challenge_Avg (sub03, CLIP ViT-B/16)</a:t>
            </a:r>
            <a:endParaRPr lang="en-US" sz="1300" dirty="0"/>
          </a:p>
        </p:txBody>
      </p:sp>
      <p:sp>
        <p:nvSpPr>
          <p:cNvPr id="5" name="test-stat-1"/>
          <p:cNvSpPr txBox="1"/>
          <p:nvPr/>
        </p:nvSpPr>
        <p:spPr>
          <a:xfrm>
            <a:off x="457200" y="2258568"/>
            <a:ext cx="3108960" cy="5943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0.8021</a:t>
            </a:r>
            <a:endParaRPr lang="en-US" sz="3400" dirty="0"/>
          </a:p>
        </p:txBody>
      </p:sp>
      <p:sp>
        <p:nvSpPr>
          <p:cNvPr id="6" name="test-label-1"/>
          <p:cNvSpPr txBox="1"/>
          <p:nvPr/>
        </p:nvSpPr>
        <p:spPr>
          <a:xfrm>
            <a:off x="457200" y="2852928"/>
            <a:ext cx="3108960" cy="411480"/>
          </a:xfrm>
          <a:prstGeom prst="rect">
            <a:avLst/>
          </a:prstGeom>
          <a:noFill/>
          <a:ln/>
        </p:spPr>
        <p:txBody>
          <a:bodyPr wrap="square" lIns="0" tIns="0" rIns="0" bIns="0" rtlCol="0" anchor="ctr"/>
          <a:lstStyle/>
          <a:p>
            <a:pPr indent="0" marL="0">
              <a:buNone/>
            </a:pPr>
            <a:r>
              <a:rPr lang="en-US" sz="1300" dirty="0">
                <a:solidFill>
                  <a:schemeClr val="tx2"/>
                </a:solidFill>
              </a:rPr>
              <a:t>first place on the leaderboard</a:t>
            </a:r>
            <a:endParaRPr lang="en-US" sz="1300" dirty="0"/>
          </a:p>
        </p:txBody>
      </p:sp>
      <p:sp>
        <p:nvSpPr>
          <p:cNvPr id="7" name="test-stat-2"/>
          <p:cNvSpPr txBox="1"/>
          <p:nvPr/>
        </p:nvSpPr>
        <p:spPr>
          <a:xfrm>
            <a:off x="457200" y="3374136"/>
            <a:ext cx="3108960" cy="5943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34.8 s</a:t>
            </a:r>
            <a:endParaRPr lang="en-US" sz="3400" dirty="0"/>
          </a:p>
        </p:txBody>
      </p:sp>
      <p:sp>
        <p:nvSpPr>
          <p:cNvPr id="8" name="test-label-2"/>
          <p:cNvSpPr txBox="1"/>
          <p:nvPr/>
        </p:nvSpPr>
        <p:spPr>
          <a:xfrm>
            <a:off x="457200" y="3968496"/>
            <a:ext cx="3108960" cy="411480"/>
          </a:xfrm>
          <a:prstGeom prst="rect">
            <a:avLst/>
          </a:prstGeom>
          <a:noFill/>
          <a:ln/>
        </p:spPr>
        <p:txBody>
          <a:bodyPr wrap="square" lIns="0" tIns="0" rIns="0" bIns="0" rtlCol="0" anchor="ctr"/>
          <a:lstStyle/>
          <a:p>
            <a:pPr indent="0" marL="0">
              <a:buNone/>
            </a:pPr>
            <a:r>
              <a:rPr lang="en-US" sz="1300" dirty="0">
                <a:solidFill>
                  <a:schemeClr val="tx2"/>
                </a:solidFill>
              </a:rPr>
              <a:t>to predict all 29,248 test images (300 s allowed)</a:t>
            </a:r>
            <a:endParaRPr lang="en-US" sz="1300" dirty="0"/>
          </a:p>
        </p:txBody>
      </p:sp>
      <p:pic>
        <p:nvPicPr>
          <p:cNvPr id="9" name="sub03-screenshot" descr="Codabench leaderboard rows 47 (ali123) and 48 (fasihhk), both 0.7699">    </p:cNvPr>
          <p:cNvPicPr>
            <a:picLocks noChangeAspect="1"/>
          </p:cNvPicPr>
          <p:nvPr/>
        </p:nvPicPr>
        <p:blipFill>
          <a:blip r:embed="rId1"/>
          <a:stretch>
            <a:fillRect/>
          </a:stretch>
        </p:blipFill>
        <p:spPr>
          <a:xfrm>
            <a:off x="3840480" y="1188720"/>
            <a:ext cx="4846320" cy="538480"/>
          </a:xfrm>
          <a:prstGeom prst="rect">
            <a:avLst/>
          </a:prstGeom>
        </p:spPr>
      </p:pic>
      <p:graphicFrame>
        <p:nvGraphicFramePr>
          <p:cNvPr id="7" name="sub03-record"/>
          <p:cNvGraphicFramePr>
            <a:graphicFrameLocks noGrp="1"/>
          </p:cNvGraphicFramePr>
          <p:nvPr>
            <p:extLst>
              <p:ext uri="{D42A27DB-BD31-4B8C-83A1-F6EECF244321}">
                <p14:modId xmlns:p14="http://schemas.microsoft.com/office/powerpoint/2010/main" val="1579011935"/>
              </p:ext>
            </p:extLst>
          </p:nvPr>
        </p:nvGraphicFramePr>
        <p:xfrm>
          <a:off x="3840480" y="1965960"/>
          <a:ext cx="4846320" cy="914400"/>
        </p:xfrm>
        <a:graphic>
          <a:graphicData uri="http://schemas.openxmlformats.org/drawingml/2006/table">
            <a:tbl>
              <a:tblPr/>
              <a:tblGrid>
                <a:gridCol w="1554480"/>
                <a:gridCol w="3291840"/>
              </a:tblGrid>
              <a:tr h="347472">
                <a:tc>
                  <a:txBody>
                    <a:bodyPr/>
                    <a:lstStyle/>
                    <a:p>
                      <a:pPr indent="0" marL="0">
                        <a:buNone/>
                      </a:pPr>
                      <a:r>
                        <a:rPr lang="en-US" sz="1300" b="1" dirty="0">
                          <a:solidFill>
                            <a:srgbClr val="FFFFFF"/>
                          </a:solidFill>
                        </a:rPr>
                        <a:t>Codabench record</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2B3A42"/>
                    </a:solidFill>
                  </a:tcPr>
                </a:tc>
                <a:tc>
                  <a:txBody>
                    <a:bodyPr/>
                    <a:lstStyle/>
                    <a:p>
                      <a:pPr indent="0" marL="0">
                        <a:buNone/>
                      </a:pP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2B3A42"/>
                    </a:solidFill>
                  </a:tcPr>
                </a:tc>
              </a:tr>
              <a:tr h="347472">
                <a:tc>
                  <a:txBody>
                    <a:bodyPr/>
                    <a:lstStyle/>
                    <a:p>
                      <a:pPr indent="0" marL="0">
                        <a:buNone/>
                      </a:pPr>
                      <a:r>
                        <a:rPr lang="en-US" sz="1300" b="1" dirty="0">
                          <a:solidFill>
                            <a:srgbClr val="1E2328"/>
                          </a:solidFill>
                        </a:rPr>
                        <a:t>Competition</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c>
                  <a:txBody>
                    <a:bodyPr/>
                    <a:lstStyle/>
                    <a:p>
                      <a:pPr indent="0" marL="0">
                        <a:buNone/>
                      </a:pPr>
                      <a:r>
                        <a:rPr lang="en-US" sz="1300" dirty="0">
                          <a:solidFill>
                            <a:srgbClr val="1E2328"/>
                          </a:solidFill>
                        </a:rPr>
                        <a:t>18180, Evaluation Phase</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r>
              <a:tr h="347472">
                <a:tc>
                  <a:txBody>
                    <a:bodyPr/>
                    <a:lstStyle/>
                    <a:p>
                      <a:pPr indent="0" marL="0">
                        <a:buNone/>
                      </a:pPr>
                      <a:r>
                        <a:rPr lang="en-US" sz="1300" b="1" dirty="0">
                          <a:solidFill>
                            <a:srgbClr val="1E2328"/>
                          </a:solidFill>
                        </a:rPr>
                        <a:t>Submissions</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c>
                  <a:txBody>
                    <a:bodyPr/>
                    <a:lstStyle/>
                    <a:p>
                      <a:pPr indent="0" marL="0">
                        <a:buNone/>
                      </a:pPr>
                      <a:r>
                        <a:rPr lang="en-US" sz="1300" dirty="0">
                          <a:solidFill>
                            <a:srgbClr val="1E2328"/>
                          </a:solidFill>
                        </a:rPr>
                        <a:t>1004948 (ali123), 1005565 (fasihhk)</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E2328"/>
                          </a:solidFill>
                        </a:rPr>
                        <a:t>Package</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c>
                  <a:txBody>
                    <a:bodyPr/>
                    <a:lstStyle/>
                    <a:p>
                      <a:pPr indent="0" marL="0">
                        <a:buNone/>
                      </a:pPr>
                      <a:r>
                        <a:rPr lang="en-US" sz="1300" dirty="0">
                          <a:solidFill>
                            <a:srgbClr val="1E2328"/>
                          </a:solidFill>
                        </a:rPr>
                        <a:t>sub03_clip_b16_calib.zip</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r>
              <a:tr h="347472">
                <a:tc>
                  <a:txBody>
                    <a:bodyPr/>
                    <a:lstStyle/>
                    <a:p>
                      <a:pPr indent="0" marL="0">
                        <a:buNone/>
                      </a:pPr>
                      <a:r>
                        <a:rPr lang="en-US" sz="1300" b="1" dirty="0">
                          <a:solidFill>
                            <a:srgbClr val="1E2328"/>
                          </a:solidFill>
                        </a:rPr>
                        <a:t>Status</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c>
                  <a:txBody>
                    <a:bodyPr/>
                    <a:lstStyle/>
                    <a:p>
                      <a:pPr indent="0" marL="0">
                        <a:buNone/>
                      </a:pPr>
                      <a:r>
                        <a:rPr lang="en-US" sz="1300" dirty="0">
                          <a:solidFill>
                            <a:srgbClr val="1E2328"/>
                          </a:solidFill>
                        </a:rPr>
                        <a:t>Finished</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E2328"/>
                          </a:solidFill>
                        </a:rPr>
                        <a:t>mA / instance F1</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c>
                  <a:txBody>
                    <a:bodyPr/>
                    <a:lstStyle/>
                    <a:p>
                      <a:pPr indent="0" marL="0">
                        <a:buNone/>
                      </a:pPr>
                      <a:r>
                        <a:rPr lang="en-US" sz="1300" dirty="0">
                          <a:solidFill>
                            <a:srgbClr val="1E2328"/>
                          </a:solidFill>
                        </a:rPr>
                        <a:t>0.7725 / 0.7672</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EEF1F3"/>
                    </a:solidFill>
                  </a:tcPr>
                </a:tc>
              </a:tr>
              <a:tr h="347472">
                <a:tc>
                  <a:txBody>
                    <a:bodyPr/>
                    <a:lstStyle/>
                    <a:p>
                      <a:pPr indent="0" marL="0">
                        <a:buNone/>
                      </a:pPr>
                      <a:r>
                        <a:rPr lang="en-US" sz="1300" b="1" dirty="0">
                          <a:solidFill>
                            <a:srgbClr val="1E2328"/>
                          </a:solidFill>
                        </a:rPr>
                        <a:t>Rank</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c>
                  <a:txBody>
                    <a:bodyPr/>
                    <a:lstStyle/>
                    <a:p>
                      <a:pPr indent="0" marL="0">
                        <a:buNone/>
                      </a:pPr>
                      <a:r>
                        <a:rPr lang="en-US" sz="1300" dirty="0">
                          <a:solidFill>
                            <a:srgbClr val="1E2328"/>
                          </a:solidFill>
                        </a:rPr>
                        <a:t>47 of 50 listed entries</a:t>
                      </a:r>
                      <a:endParaRPr lang="en-US" sz="1300" dirty="0"/>
                    </a:p>
                  </a:txBody>
                  <a:tcPr marL="54864" marR="54864" marT="54864" marB="54864">
                    <a:lnL w="6350" cap="flat" cmpd="sng" algn="ctr">
                      <a:solidFill>
                        <a:srgbClr val="D9DEE2"/>
                      </a:solidFill>
                      <a:prstDash val="solid"/>
                      <a:round/>
                      <a:headEnd type="none" w="med" len="med"/>
                      <a:tailEnd type="none" w="med" len="med"/>
                    </a:lnL>
                    <a:lnR w="6350" cap="flat" cmpd="sng" algn="ctr">
                      <a:solidFill>
                        <a:srgbClr val="D9DEE2"/>
                      </a:solidFill>
                      <a:prstDash val="solid"/>
                      <a:round/>
                      <a:headEnd type="none" w="med" len="med"/>
                      <a:tailEnd type="none" w="med" len="med"/>
                    </a:lnR>
                    <a:lnT w="6350" cap="flat" cmpd="sng" algn="ctr">
                      <a:solidFill>
                        <a:srgbClr val="D9DEE2"/>
                      </a:solidFill>
                      <a:prstDash val="solid"/>
                      <a:round/>
                      <a:headEnd type="none" w="med" len="med"/>
                      <a:tailEnd type="none" w="med" len="med"/>
                    </a:lnT>
                    <a:lnB w="6350" cap="flat" cmpd="sng" algn="ctr">
                      <a:solidFill>
                        <a:srgbClr val="D9DE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Demo: from training to a valid submission</a:t>
            </a:r>
            <a:endParaRPr lang="en-US" sz="2600" dirty="0"/>
          </a:p>
        </p:txBody>
      </p:sp>
      <p:sp>
        <p:nvSpPr>
          <p:cNvPr id="3" name="terminal"/>
          <p:cNvSpPr/>
          <p:nvPr/>
        </p:nvSpPr>
        <p:spPr>
          <a:xfrm>
            <a:off x="457200" y="1143000"/>
            <a:ext cx="5120640" cy="3383280"/>
          </a:xfrm>
          <a:prstGeom prst="roundRect">
            <a:avLst>
              <a:gd name="adj" fmla="val 2162"/>
            </a:avLst>
          </a:prstGeom>
          <a:solidFill>
            <a:schemeClr val="tx1"/>
          </a:solidFill>
          <a:ln w="12700">
            <a:solidFill>
              <a:schemeClr val="tx1"/>
            </a:solidFill>
            <a:prstDash val="solid"/>
          </a:ln>
        </p:spPr>
      </p:sp>
      <p:sp>
        <p:nvSpPr>
          <p:cNvPr id="4" name="commands"/>
          <p:cNvSpPr txBox="1"/>
          <p:nvPr/>
        </p:nvSpPr>
        <p:spPr>
          <a:xfrm>
            <a:off x="640080" y="1280160"/>
            <a:ext cx="4800600" cy="3108960"/>
          </a:xfrm>
          <a:prstGeom prst="rect">
            <a:avLst/>
          </a:prstGeom>
          <a:noFill/>
          <a:ln/>
        </p:spPr>
        <p:txBody>
          <a:bodyPr wrap="square" lIns="0" tIns="0" rIns="0" bIns="0" rtlCol="0" anchor="t"/>
          <a:lstStyle/>
          <a:p>
            <a:pPr indent="0" marL="0">
              <a:spcAft>
                <a:spcPts val="400"/>
              </a:spcAft>
              <a:buNone/>
            </a:pPr>
            <a:r>
              <a:rPr lang="en-US" sz="1100" dirty="0">
                <a:solidFill>
                  <a:srgbClr val="E8A33D"/>
                </a:solidFill>
                <a:latin typeface="Courier New" pitchFamily="34" charset="0"/>
                <a:ea typeface="Courier New" pitchFamily="34" charset="-122"/>
                <a:cs typeface="Courier New" pitchFamily="34" charset="-120"/>
              </a:rPr>
              <a:t># 1  train (tqdm bar shows time left)</a:t>
            </a:r>
            <a:endParaRPr lang="en-US" sz="1100" dirty="0"/>
          </a:p>
          <a:p>
            <a:pPr indent="0" marL="0">
              <a:spcAft>
                <a:spcPts val="400"/>
              </a:spcAft>
              <a:buNone/>
            </a:pPr>
            <a:r>
              <a:rPr lang="en-US" sz="1100" dirty="0">
                <a:solidFill>
                  <a:srgbClr val="FFFFFF"/>
                </a:solidFill>
                <a:latin typeface="Courier New" pitchFamily="34" charset="0"/>
                <a:ea typeface="Courier New" pitchFamily="34" charset="-122"/>
                <a:cs typeface="Courier New" pitchFamily="34" charset="-120"/>
              </a:rPr>
              <a:t>python src/train.py --config configs/clip_b16.yaml</a:t>
            </a:r>
            <a:endParaRPr lang="en-US" sz="1100" dirty="0"/>
          </a:p>
          <a:p>
            <a:pPr indent="0" marL="0">
              <a:spcAft>
                <a:spcPts val="400"/>
              </a:spcAft>
              <a:buNone/>
            </a:pPr>
            <a:r>
              <a:rPr lang="en-US" sz="1100" dirty="0">
                <a:solidFill>
                  <a:srgbClr val="E8A33D"/>
                </a:solidFill>
                <a:latin typeface="Courier New" pitchFamily="34" charset="0"/>
                <a:ea typeface="Courier New" pitchFamily="34" charset="-122"/>
                <a:cs typeface="Courier New" pitchFamily="34" charset="-120"/>
              </a:rPr>
              <a:t># 2  fit N4 offsets + N5 groups</a:t>
            </a:r>
            <a:endParaRPr lang="en-US" sz="1100" dirty="0"/>
          </a:p>
          <a:p>
            <a:pPr indent="0" marL="0">
              <a:spcAft>
                <a:spcPts val="400"/>
              </a:spcAft>
              <a:buNone/>
            </a:pPr>
            <a:r>
              <a:rPr lang="en-US" sz="1100" dirty="0">
                <a:solidFill>
                  <a:srgbClr val="FFFFFF"/>
                </a:solidFill>
                <a:latin typeface="Courier New" pitchFamily="34" charset="0"/>
                <a:ea typeface="Courier New" pitchFamily="34" charset="-122"/>
                <a:cs typeface="Courier New" pitchFamily="34" charset="-120"/>
              </a:rPr>
              <a:t>python src/calibrate.py --run results/clip_b16</a:t>
            </a:r>
            <a:endParaRPr lang="en-US" sz="1100" dirty="0"/>
          </a:p>
          <a:p>
            <a:pPr indent="0" marL="0">
              <a:spcAft>
                <a:spcPts val="400"/>
              </a:spcAft>
              <a:buNone/>
            </a:pPr>
            <a:r>
              <a:rPr lang="en-US" sz="1100" dirty="0">
                <a:solidFill>
                  <a:srgbClr val="E8A33D"/>
                </a:solidFill>
                <a:latin typeface="Courier New" pitchFamily="34" charset="0"/>
                <a:ea typeface="Courier New" pitchFamily="34" charset="-122"/>
                <a:cs typeface="Courier New" pitchFamily="34" charset="-120"/>
              </a:rPr>
              <a:t># 3  export one TorchScript file</a:t>
            </a:r>
            <a:endParaRPr lang="en-US" sz="1100" dirty="0"/>
          </a:p>
          <a:p>
            <a:pPr indent="0" marL="0">
              <a:spcAft>
                <a:spcPts val="400"/>
              </a:spcAft>
              <a:buNone/>
            </a:pPr>
            <a:r>
              <a:rPr lang="en-US" sz="1100" dirty="0">
                <a:solidFill>
                  <a:srgbClr val="FFFFFF"/>
                </a:solidFill>
                <a:latin typeface="Courier New" pitchFamily="34" charset="0"/>
                <a:ea typeface="Courier New" pitchFamily="34" charset="-122"/>
                <a:cs typeface="Courier New" pitchFamily="34" charset="-120"/>
              </a:rPr>
              <a:t>python src/export.py --run results/clip_b16 --no-flip</a:t>
            </a:r>
            <a:endParaRPr lang="en-US" sz="1100" dirty="0"/>
          </a:p>
          <a:p>
            <a:pPr indent="0" marL="0">
              <a:spcAft>
                <a:spcPts val="400"/>
              </a:spcAft>
              <a:buNone/>
            </a:pPr>
            <a:r>
              <a:rPr lang="en-US" sz="1100" dirty="0">
                <a:solidFill>
                  <a:srgbClr val="E8A33D"/>
                </a:solidFill>
                <a:latin typeface="Courier New" pitchFamily="34" charset="0"/>
                <a:ea typeface="Courier New" pitchFamily="34" charset="-122"/>
                <a:cs typeface="Courier New" pitchFamily="34" charset="-120"/>
              </a:rPr>
              <a:t># 4  replay Codabench locally</a:t>
            </a:r>
            <a:endParaRPr lang="en-US" sz="1100" dirty="0"/>
          </a:p>
          <a:p>
            <a:pPr indent="0" marL="0">
              <a:spcAft>
                <a:spcPts val="400"/>
              </a:spcAft>
              <a:buNone/>
            </a:pPr>
            <a:r>
              <a:rPr lang="en-US" sz="1100" dirty="0">
                <a:solidFill>
                  <a:srgbClr val="FFFFFF"/>
                </a:solidFill>
                <a:latin typeface="Courier New" pitchFamily="34" charset="0"/>
                <a:ea typeface="Courier New" pitchFamily="34" charset="-122"/>
                <a:cs typeface="Courier New" pitchFamily="34" charset="-120"/>
              </a:rPr>
              <a:t>python tools/simulate_ingestion.py --package submission</a:t>
            </a:r>
            <a:endParaRPr lang="en-US" sz="1100" dirty="0"/>
          </a:p>
          <a:p>
            <a:pPr indent="0" marL="0">
              <a:spcAft>
                <a:spcPts val="400"/>
              </a:spcAft>
              <a:buNone/>
            </a:pPr>
            <a:r>
              <a:rPr lang="en-US" sz="1100" dirty="0">
                <a:solidFill>
                  <a:srgbClr val="E8A33D"/>
                </a:solidFill>
                <a:latin typeface="Courier New" pitchFamily="34" charset="0"/>
                <a:ea typeface="Courier New" pitchFamily="34" charset="-122"/>
                <a:cs typeface="Courier New" pitchFamily="34" charset="-120"/>
              </a:rPr>
              <a:t># 5  zip for upload</a:t>
            </a:r>
            <a:endParaRPr lang="en-US" sz="1100" dirty="0"/>
          </a:p>
          <a:p>
            <a:pPr indent="0" marL="0">
              <a:spcAft>
                <a:spcPts val="400"/>
              </a:spcAft>
              <a:buNone/>
            </a:pPr>
            <a:r>
              <a:rPr lang="en-US" sz="1100" dirty="0">
                <a:solidFill>
                  <a:srgbClr val="FFFFFF"/>
                </a:solidFill>
                <a:latin typeface="Courier New" pitchFamily="34" charset="0"/>
                <a:ea typeface="Courier New" pitchFamily="34" charset="-122"/>
                <a:cs typeface="Courier New" pitchFamily="34" charset="-120"/>
              </a:rPr>
              <a:t>python tools/package.py --out upload/sub03.zip</a:t>
            </a:r>
            <a:endParaRPr lang="en-US" sz="1100" dirty="0"/>
          </a:p>
        </p:txBody>
      </p:sp>
      <p:sp>
        <p:nvSpPr>
          <p:cNvPr id="5" name="demo-h-0"/>
          <p:cNvSpPr txBox="1"/>
          <p:nvPr/>
        </p:nvSpPr>
        <p:spPr>
          <a:xfrm>
            <a:off x="5897880" y="1188720"/>
            <a:ext cx="2788920" cy="365760"/>
          </a:xfrm>
          <a:prstGeom prst="rect">
            <a:avLst/>
          </a:prstGeom>
          <a:noFill/>
          <a:ln/>
        </p:spPr>
        <p:txBody>
          <a:bodyPr wrap="square" lIns="0" tIns="0" rIns="0" bIns="0" rtlCol="0" anchor="ctr"/>
          <a:lstStyle/>
          <a:p>
            <a:pPr indent="0" marL="0">
              <a:buNone/>
            </a:pPr>
            <a:r>
              <a:rPr lang="en-US" sz="1600" b="1" dirty="0">
                <a:solidFill>
                  <a:schemeClr val="accent2"/>
                </a:solidFill>
              </a:rPr>
              <a:t>Simulator</a:t>
            </a:r>
            <a:endParaRPr lang="en-US" sz="1600" dirty="0"/>
          </a:p>
        </p:txBody>
      </p:sp>
      <p:sp>
        <p:nvSpPr>
          <p:cNvPr id="6" name="demo-d-0"/>
          <p:cNvSpPr txBox="1"/>
          <p:nvPr/>
        </p:nvSpPr>
        <p:spPr>
          <a:xfrm>
            <a:off x="5897880" y="1554480"/>
            <a:ext cx="2788920" cy="685800"/>
          </a:xfrm>
          <a:prstGeom prst="rect">
            <a:avLst/>
          </a:prstGeom>
          <a:noFill/>
          <a:ln/>
        </p:spPr>
        <p:txBody>
          <a:bodyPr wrap="square" lIns="0" tIns="0" rIns="0" bIns="0" rtlCol="0" anchor="t"/>
          <a:lstStyle/>
          <a:p>
            <a:pPr indent="0" marL="0">
              <a:buNone/>
            </a:pPr>
            <a:r>
              <a:rPr lang="en-US" sz="1300" dirty="0">
                <a:solidFill>
                  <a:schemeClr val="tx2"/>
                </a:solidFill>
              </a:rPr>
              <a:t>checks the output format, the score on val, and projects the run time for 30k images</a:t>
            </a:r>
            <a:endParaRPr lang="en-US" sz="1300" dirty="0"/>
          </a:p>
        </p:txBody>
      </p:sp>
      <p:sp>
        <p:nvSpPr>
          <p:cNvPr id="7" name="demo-h-1"/>
          <p:cNvSpPr txBox="1"/>
          <p:nvPr/>
        </p:nvSpPr>
        <p:spPr>
          <a:xfrm>
            <a:off x="5897880" y="2304288"/>
            <a:ext cx="2788920" cy="365760"/>
          </a:xfrm>
          <a:prstGeom prst="rect">
            <a:avLst/>
          </a:prstGeom>
          <a:noFill/>
          <a:ln/>
        </p:spPr>
        <p:txBody>
          <a:bodyPr wrap="square" lIns="0" tIns="0" rIns="0" bIns="0" rtlCol="0" anchor="ctr"/>
          <a:lstStyle/>
          <a:p>
            <a:pPr indent="0" marL="0">
              <a:buNone/>
            </a:pPr>
            <a:r>
              <a:rPr lang="en-US" sz="1600" b="1" dirty="0">
                <a:solidFill>
                  <a:schemeClr val="accent2"/>
                </a:solidFill>
              </a:rPr>
              <a:t>Per-run folder</a:t>
            </a:r>
            <a:endParaRPr lang="en-US" sz="1600" dirty="0"/>
          </a:p>
        </p:txBody>
      </p:sp>
      <p:sp>
        <p:nvSpPr>
          <p:cNvPr id="8" name="demo-d-1"/>
          <p:cNvSpPr txBox="1"/>
          <p:nvPr/>
        </p:nvSpPr>
        <p:spPr>
          <a:xfrm>
            <a:off x="5897880" y="2670048"/>
            <a:ext cx="2788920" cy="685800"/>
          </a:xfrm>
          <a:prstGeom prst="rect">
            <a:avLst/>
          </a:prstGeom>
          <a:noFill/>
          <a:ln/>
        </p:spPr>
        <p:txBody>
          <a:bodyPr wrap="square" lIns="0" tIns="0" rIns="0" bIns="0" rtlCol="0" anchor="t"/>
          <a:lstStyle/>
          <a:p>
            <a:pPr indent="0" marL="0">
              <a:buNone/>
            </a:pPr>
            <a:r>
              <a:rPr lang="en-US" sz="1300" dirty="0">
                <a:solidFill>
                  <a:schemeClr val="tx2"/>
                </a:solidFill>
              </a:rPr>
              <a:t>results/&lt;run&gt;/ holds the config, train.log, metrics, calib.json and checkpoints</a:t>
            </a:r>
            <a:endParaRPr lang="en-US" sz="1300" dirty="0"/>
          </a:p>
        </p:txBody>
      </p:sp>
      <p:sp>
        <p:nvSpPr>
          <p:cNvPr id="9" name="demo-h-2"/>
          <p:cNvSpPr txBox="1"/>
          <p:nvPr/>
        </p:nvSpPr>
        <p:spPr>
          <a:xfrm>
            <a:off x="5897880" y="3419856"/>
            <a:ext cx="2788920" cy="365760"/>
          </a:xfrm>
          <a:prstGeom prst="rect">
            <a:avLst/>
          </a:prstGeom>
          <a:noFill/>
          <a:ln/>
        </p:spPr>
        <p:txBody>
          <a:bodyPr wrap="square" lIns="0" tIns="0" rIns="0" bIns="0" rtlCol="0" anchor="ctr"/>
          <a:lstStyle/>
          <a:p>
            <a:pPr indent="0" marL="0">
              <a:buNone/>
            </a:pPr>
            <a:r>
              <a:rPr lang="en-US" sz="1600" b="1" dirty="0">
                <a:solidFill>
                  <a:schemeClr val="accent2"/>
                </a:solidFill>
              </a:rPr>
              <a:t>Upload</a:t>
            </a:r>
            <a:endParaRPr lang="en-US" sz="1600" dirty="0"/>
          </a:p>
        </p:txBody>
      </p:sp>
      <p:sp>
        <p:nvSpPr>
          <p:cNvPr id="10" name="demo-d-2"/>
          <p:cNvSpPr txBox="1"/>
          <p:nvPr/>
        </p:nvSpPr>
        <p:spPr>
          <a:xfrm>
            <a:off x="5897880" y="3785616"/>
            <a:ext cx="2788920" cy="685800"/>
          </a:xfrm>
          <a:prstGeom prst="rect">
            <a:avLst/>
          </a:prstGeom>
          <a:noFill/>
          <a:ln/>
        </p:spPr>
        <p:txBody>
          <a:bodyPr wrap="square" lIns="0" tIns="0" rIns="0" bIns="0" rtlCol="0" anchor="t"/>
          <a:lstStyle/>
          <a:p>
            <a:pPr indent="0" marL="0">
              <a:buNone/>
            </a:pPr>
            <a:r>
              <a:rPr lang="en-US" sz="1300" dirty="0">
                <a:solidFill>
                  <a:schemeClr val="tx2"/>
                </a:solidFill>
              </a:rPr>
              <a:t>every zip in upload/ is ready for Codabench</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More models were ready, then Codabench went down</a:t>
            </a:r>
            <a:endParaRPr lang="en-US" sz="2600" dirty="0"/>
          </a:p>
        </p:txBody>
      </p:sp>
      <p:sp>
        <p:nvSpPr>
          <p:cNvPr id="3" name="timeline"/>
          <p:cNvSpPr/>
          <p:nvPr/>
        </p:nvSpPr>
        <p:spPr>
          <a:xfrm>
            <a:off x="1188720" y="2057400"/>
            <a:ext cx="6766560" cy="0"/>
          </a:xfrm>
          <a:prstGeom prst="line">
            <a:avLst/>
          </a:prstGeom>
          <a:noFill/>
          <a:ln w="25400">
            <a:solidFill>
              <a:schemeClr val="accent3"/>
            </a:solidFill>
            <a:prstDash val="solid"/>
          </a:ln>
        </p:spPr>
      </p:sp>
      <p:sp>
        <p:nvSpPr>
          <p:cNvPr id="4" name="event-dot-0"/>
          <p:cNvSpPr/>
          <p:nvPr/>
        </p:nvSpPr>
        <p:spPr>
          <a:xfrm>
            <a:off x="1060704" y="1929384"/>
            <a:ext cx="256032" cy="256032"/>
          </a:xfrm>
          <a:prstGeom prst="ellipse">
            <a:avLst/>
          </a:prstGeom>
          <a:solidFill>
            <a:schemeClr val="accent2"/>
          </a:solidFill>
          <a:ln w="25400">
            <a:solidFill>
              <a:schemeClr val="bg1"/>
            </a:solidFill>
            <a:prstDash val="solid"/>
          </a:ln>
        </p:spPr>
      </p:sp>
      <p:sp>
        <p:nvSpPr>
          <p:cNvPr id="5" name="event-when-0"/>
          <p:cNvSpPr txBox="1"/>
          <p:nvPr/>
        </p:nvSpPr>
        <p:spPr>
          <a:xfrm>
            <a:off x="457200" y="1371600"/>
            <a:ext cx="1463040" cy="365760"/>
          </a:xfrm>
          <a:prstGeom prst="rect">
            <a:avLst/>
          </a:prstGeom>
          <a:noFill/>
          <a:ln/>
        </p:spPr>
        <p:txBody>
          <a:bodyPr wrap="square" lIns="0" tIns="0" rIns="0" bIns="0" rtlCol="0" anchor="ctr"/>
          <a:lstStyle/>
          <a:p>
            <a:pPr algn="ctr" indent="0" marL="0">
              <a:buNone/>
            </a:pPr>
            <a:r>
              <a:rPr lang="en-US" sz="1300" b="1" dirty="0">
                <a:solidFill>
                  <a:schemeClr val="tx1"/>
                </a:solidFill>
              </a:rPr>
              <a:t>20 Oct 09:31</a:t>
            </a:r>
            <a:endParaRPr lang="en-US" sz="1300" dirty="0"/>
          </a:p>
        </p:txBody>
      </p:sp>
      <p:sp>
        <p:nvSpPr>
          <p:cNvPr id="6" name="event-what-0"/>
          <p:cNvSpPr txBox="1"/>
          <p:nvPr/>
        </p:nvSpPr>
        <p:spPr>
          <a:xfrm>
            <a:off x="411480" y="2377440"/>
            <a:ext cx="1554480" cy="914400"/>
          </a:xfrm>
          <a:prstGeom prst="rect">
            <a:avLst/>
          </a:prstGeom>
          <a:noFill/>
          <a:ln/>
        </p:spPr>
        <p:txBody>
          <a:bodyPr wrap="square" lIns="0" tIns="0" rIns="0" bIns="0" rtlCol="0" anchor="t"/>
          <a:lstStyle/>
          <a:p>
            <a:pPr algn="ctr" indent="0" marL="0">
              <a:buNone/>
            </a:pPr>
            <a:r>
              <a:rPr lang="en-US" sz="1200" dirty="0">
                <a:solidFill>
                  <a:schemeClr val="tx2"/>
                </a:solidFill>
              </a:rPr>
              <a:t>sub03 scored: 0.7699</a:t>
            </a:r>
            <a:endParaRPr lang="en-US" sz="1200" dirty="0"/>
          </a:p>
        </p:txBody>
      </p:sp>
      <p:sp>
        <p:nvSpPr>
          <p:cNvPr id="7" name="event-dot-1"/>
          <p:cNvSpPr/>
          <p:nvPr/>
        </p:nvSpPr>
        <p:spPr>
          <a:xfrm>
            <a:off x="2752344" y="1929384"/>
            <a:ext cx="256032" cy="256032"/>
          </a:xfrm>
          <a:prstGeom prst="ellipse">
            <a:avLst/>
          </a:prstGeom>
          <a:solidFill>
            <a:schemeClr val="accent3"/>
          </a:solidFill>
          <a:ln w="25400">
            <a:solidFill>
              <a:schemeClr val="bg1"/>
            </a:solidFill>
            <a:prstDash val="solid"/>
          </a:ln>
        </p:spPr>
      </p:sp>
      <p:sp>
        <p:nvSpPr>
          <p:cNvPr id="8" name="event-when-1"/>
          <p:cNvSpPr txBox="1"/>
          <p:nvPr/>
        </p:nvSpPr>
        <p:spPr>
          <a:xfrm>
            <a:off x="2148840" y="1371600"/>
            <a:ext cx="1463040" cy="365760"/>
          </a:xfrm>
          <a:prstGeom prst="rect">
            <a:avLst/>
          </a:prstGeom>
          <a:noFill/>
          <a:ln/>
        </p:spPr>
        <p:txBody>
          <a:bodyPr wrap="square" lIns="0" tIns="0" rIns="0" bIns="0" rtlCol="0" anchor="ctr"/>
          <a:lstStyle/>
          <a:p>
            <a:pPr algn="ctr" indent="0" marL="0">
              <a:buNone/>
            </a:pPr>
            <a:r>
              <a:rPr lang="en-US" sz="1300" b="1" dirty="0">
                <a:solidFill>
                  <a:schemeClr val="tx1"/>
                </a:solidFill>
              </a:rPr>
              <a:t>20 Oct 18:20</a:t>
            </a:r>
            <a:endParaRPr lang="en-US" sz="1300" dirty="0"/>
          </a:p>
        </p:txBody>
      </p:sp>
      <p:sp>
        <p:nvSpPr>
          <p:cNvPr id="9" name="event-what-1"/>
          <p:cNvSpPr txBox="1"/>
          <p:nvPr/>
        </p:nvSpPr>
        <p:spPr>
          <a:xfrm>
            <a:off x="2103120" y="2377440"/>
            <a:ext cx="1554480" cy="914400"/>
          </a:xfrm>
          <a:prstGeom prst="rect">
            <a:avLst/>
          </a:prstGeom>
          <a:noFill/>
          <a:ln/>
        </p:spPr>
        <p:txBody>
          <a:bodyPr wrap="square" lIns="0" tIns="0" rIns="0" bIns="0" rtlCol="0" anchor="t"/>
          <a:lstStyle/>
          <a:p>
            <a:pPr algn="ctr" indent="0" marL="0">
              <a:buNone/>
            </a:pPr>
            <a:r>
              <a:rPr lang="en-US" sz="1200" dirty="0">
                <a:solidFill>
                  <a:schemeClr val="tx2"/>
                </a:solidFill>
              </a:rPr>
              <a:t>sub05 (train+val) predicted in 46 s, never scored</a:t>
            </a:r>
            <a:endParaRPr lang="en-US" sz="1200" dirty="0"/>
          </a:p>
        </p:txBody>
      </p:sp>
      <p:sp>
        <p:nvSpPr>
          <p:cNvPr id="10" name="event-dot-2"/>
          <p:cNvSpPr/>
          <p:nvPr/>
        </p:nvSpPr>
        <p:spPr>
          <a:xfrm>
            <a:off x="4443984" y="1929384"/>
            <a:ext cx="256032" cy="256032"/>
          </a:xfrm>
          <a:prstGeom prst="ellipse">
            <a:avLst/>
          </a:prstGeom>
          <a:solidFill>
            <a:schemeClr val="accent1"/>
          </a:solidFill>
          <a:ln w="25400">
            <a:solidFill>
              <a:schemeClr val="bg1"/>
            </a:solidFill>
            <a:prstDash val="solid"/>
          </a:ln>
        </p:spPr>
      </p:sp>
      <p:sp>
        <p:nvSpPr>
          <p:cNvPr id="11" name="event-when-2"/>
          <p:cNvSpPr txBox="1"/>
          <p:nvPr/>
        </p:nvSpPr>
        <p:spPr>
          <a:xfrm>
            <a:off x="3840480" y="1371600"/>
            <a:ext cx="1463040" cy="365760"/>
          </a:xfrm>
          <a:prstGeom prst="rect">
            <a:avLst/>
          </a:prstGeom>
          <a:noFill/>
          <a:ln/>
        </p:spPr>
        <p:txBody>
          <a:bodyPr wrap="square" lIns="0" tIns="0" rIns="0" bIns="0" rtlCol="0" anchor="ctr"/>
          <a:lstStyle/>
          <a:p>
            <a:pPr algn="ctr" indent="0" marL="0">
              <a:buNone/>
            </a:pPr>
            <a:r>
              <a:rPr lang="en-US" sz="1300" b="1" dirty="0">
                <a:solidFill>
                  <a:schemeClr val="tx1"/>
                </a:solidFill>
              </a:rPr>
              <a:t>21 Oct 13:40</a:t>
            </a:r>
            <a:endParaRPr lang="en-US" sz="1300" dirty="0"/>
          </a:p>
        </p:txBody>
      </p:sp>
      <p:sp>
        <p:nvSpPr>
          <p:cNvPr id="12" name="event-what-2"/>
          <p:cNvSpPr txBox="1"/>
          <p:nvPr/>
        </p:nvSpPr>
        <p:spPr>
          <a:xfrm>
            <a:off x="3794760" y="2377440"/>
            <a:ext cx="1554480" cy="914400"/>
          </a:xfrm>
          <a:prstGeom prst="rect">
            <a:avLst/>
          </a:prstGeom>
          <a:noFill/>
          <a:ln/>
        </p:spPr>
        <p:txBody>
          <a:bodyPr wrap="square" lIns="0" tIns="0" rIns="0" bIns="0" rtlCol="0" anchor="t"/>
          <a:lstStyle/>
          <a:p>
            <a:pPr algn="ctr" indent="0" marL="0">
              <a:buNone/>
            </a:pPr>
            <a:r>
              <a:rPr lang="en-US" sz="1200" dirty="0">
                <a:solidFill>
                  <a:schemeClr val="tx2"/>
                </a:solidFill>
              </a:rPr>
              <a:t>sub07 (ViT-B + ViT-L, val 0.8803) queued</a:t>
            </a:r>
            <a:endParaRPr lang="en-US" sz="1200" dirty="0"/>
          </a:p>
        </p:txBody>
      </p:sp>
      <p:sp>
        <p:nvSpPr>
          <p:cNvPr id="13" name="event-dot-3"/>
          <p:cNvSpPr/>
          <p:nvPr/>
        </p:nvSpPr>
        <p:spPr>
          <a:xfrm>
            <a:off x="6135624" y="1929384"/>
            <a:ext cx="256032" cy="256032"/>
          </a:xfrm>
          <a:prstGeom prst="ellipse">
            <a:avLst/>
          </a:prstGeom>
          <a:solidFill>
            <a:schemeClr val="accent4"/>
          </a:solidFill>
          <a:ln w="25400">
            <a:solidFill>
              <a:schemeClr val="bg1"/>
            </a:solidFill>
            <a:prstDash val="solid"/>
          </a:ln>
        </p:spPr>
      </p:sp>
      <p:sp>
        <p:nvSpPr>
          <p:cNvPr id="14" name="event-when-3"/>
          <p:cNvSpPr txBox="1"/>
          <p:nvPr/>
        </p:nvSpPr>
        <p:spPr>
          <a:xfrm>
            <a:off x="5532120" y="1371600"/>
            <a:ext cx="1463040" cy="365760"/>
          </a:xfrm>
          <a:prstGeom prst="rect">
            <a:avLst/>
          </a:prstGeom>
          <a:noFill/>
          <a:ln/>
        </p:spPr>
        <p:txBody>
          <a:bodyPr wrap="square" lIns="0" tIns="0" rIns="0" bIns="0" rtlCol="0" anchor="ctr"/>
          <a:lstStyle/>
          <a:p>
            <a:pPr algn="ctr" indent="0" marL="0">
              <a:buNone/>
            </a:pPr>
            <a:r>
              <a:rPr lang="en-US" sz="1300" b="1" dirty="0">
                <a:solidFill>
                  <a:schemeClr val="tx1"/>
                </a:solidFill>
              </a:rPr>
              <a:t>21 Oct 13:45</a:t>
            </a:r>
            <a:endParaRPr lang="en-US" sz="1300" dirty="0"/>
          </a:p>
        </p:txBody>
      </p:sp>
      <p:sp>
        <p:nvSpPr>
          <p:cNvPr id="15" name="event-what-3"/>
          <p:cNvSpPr txBox="1"/>
          <p:nvPr/>
        </p:nvSpPr>
        <p:spPr>
          <a:xfrm>
            <a:off x="5486400" y="2377440"/>
            <a:ext cx="1554480" cy="914400"/>
          </a:xfrm>
          <a:prstGeom prst="rect">
            <a:avLst/>
          </a:prstGeom>
          <a:noFill/>
          <a:ln/>
        </p:spPr>
        <p:txBody>
          <a:bodyPr wrap="square" lIns="0" tIns="0" rIns="0" bIns="0" rtlCol="0" anchor="t"/>
          <a:lstStyle/>
          <a:p>
            <a:pPr algn="ctr" indent="0" marL="0">
              <a:buNone/>
            </a:pPr>
            <a:r>
              <a:rPr lang="en-US" sz="1200" dirty="0">
                <a:solidFill>
                  <a:schemeClr val="tx2"/>
                </a:solidFill>
              </a:rPr>
              <a:t>codabench.org stops responding</a:t>
            </a:r>
            <a:endParaRPr lang="en-US" sz="1200" dirty="0"/>
          </a:p>
        </p:txBody>
      </p:sp>
      <p:sp>
        <p:nvSpPr>
          <p:cNvPr id="16" name="event-dot-4"/>
          <p:cNvSpPr/>
          <p:nvPr/>
        </p:nvSpPr>
        <p:spPr>
          <a:xfrm>
            <a:off x="7827264" y="1929384"/>
            <a:ext cx="256032" cy="256032"/>
          </a:xfrm>
          <a:prstGeom prst="ellipse">
            <a:avLst/>
          </a:prstGeom>
          <a:solidFill>
            <a:schemeClr val="accent4"/>
          </a:solidFill>
          <a:ln w="25400">
            <a:solidFill>
              <a:schemeClr val="bg1"/>
            </a:solidFill>
            <a:prstDash val="solid"/>
          </a:ln>
        </p:spPr>
      </p:sp>
      <p:sp>
        <p:nvSpPr>
          <p:cNvPr id="17" name="event-when-4"/>
          <p:cNvSpPr txBox="1"/>
          <p:nvPr/>
        </p:nvSpPr>
        <p:spPr>
          <a:xfrm>
            <a:off x="7223760" y="1371600"/>
            <a:ext cx="1463040" cy="365760"/>
          </a:xfrm>
          <a:prstGeom prst="rect">
            <a:avLst/>
          </a:prstGeom>
          <a:noFill/>
          <a:ln/>
        </p:spPr>
        <p:txBody>
          <a:bodyPr wrap="square" lIns="0" tIns="0" rIns="0" bIns="0" rtlCol="0" anchor="ctr"/>
          <a:lstStyle/>
          <a:p>
            <a:pPr algn="ctr" indent="0" marL="0">
              <a:buNone/>
            </a:pPr>
            <a:r>
              <a:rPr lang="en-US" sz="1300" b="1" dirty="0">
                <a:solidFill>
                  <a:schemeClr val="tx1"/>
                </a:solidFill>
              </a:rPr>
              <a:t>22 Oct 12:00</a:t>
            </a:r>
            <a:endParaRPr lang="en-US" sz="1300" dirty="0"/>
          </a:p>
        </p:txBody>
      </p:sp>
      <p:sp>
        <p:nvSpPr>
          <p:cNvPr id="18" name="event-what-4"/>
          <p:cNvSpPr txBox="1"/>
          <p:nvPr/>
        </p:nvSpPr>
        <p:spPr>
          <a:xfrm>
            <a:off x="7178040" y="2377440"/>
            <a:ext cx="1554480" cy="914400"/>
          </a:xfrm>
          <a:prstGeom prst="rect">
            <a:avLst/>
          </a:prstGeom>
          <a:noFill/>
          <a:ln/>
        </p:spPr>
        <p:txBody>
          <a:bodyPr wrap="square" lIns="0" tIns="0" rIns="0" bIns="0" rtlCol="0" anchor="t"/>
          <a:lstStyle/>
          <a:p>
            <a:pPr algn="ctr" indent="0" marL="0">
              <a:buNone/>
            </a:pPr>
            <a:r>
              <a:rPr lang="en-US" sz="1200" dirty="0">
                <a:solidFill>
                  <a:schemeClr val="tx2"/>
                </a:solidFill>
              </a:rPr>
              <a:t>phase closes; site still down</a:t>
            </a:r>
            <a:endParaRPr lang="en-US" sz="1200" dirty="0"/>
          </a:p>
        </p:txBody>
      </p:sp>
      <p:sp>
        <p:nvSpPr>
          <p:cNvPr id="19" name="unscored"/>
          <p:cNvSpPr/>
          <p:nvPr/>
        </p:nvSpPr>
        <p:spPr>
          <a:xfrm>
            <a:off x="457200" y="3520440"/>
            <a:ext cx="8229600" cy="960120"/>
          </a:xfrm>
          <a:prstGeom prst="roundRect">
            <a:avLst>
              <a:gd name="adj" fmla="val 7619"/>
            </a:avLst>
          </a:prstGeom>
          <a:solidFill>
            <a:schemeClr val="bg2"/>
          </a:solidFill>
          <a:ln w="12700">
            <a:solidFill>
              <a:schemeClr val="bg2"/>
            </a:solidFill>
            <a:prstDash val="solid"/>
          </a:ln>
        </p:spPr>
      </p:sp>
      <p:sp>
        <p:nvSpPr>
          <p:cNvPr id="20" name="unscored-text"/>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b="1" dirty="0">
                <a:solidFill>
                  <a:schemeClr val="tx1"/>
                </a:solidFill>
              </a:rPr>
              <a:t>Built and checked but never scored:  </a:t>
            </a:r>
            <a:pPr indent="0" marL="0">
              <a:buNone/>
            </a:pPr>
            <a:r>
              <a:rPr lang="en-US" sz="1400" dirty="0">
                <a:solidFill>
                  <a:schemeClr val="tx2"/>
                </a:solidFill>
              </a:rPr>
              <a:t>sub05 ViT-B on train+val  ·  sub06 ViT-L/14  ·  sub07 ViT-B + ViT-L ensemble  ·  sub08 ensemble on train+val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Challenges and next steps</a:t>
            </a:r>
            <a:endParaRPr lang="en-US" sz="2600" dirty="0"/>
          </a:p>
        </p:txBody>
      </p:sp>
      <p:sp>
        <p:nvSpPr>
          <p:cNvPr id="3" name="col-card-0"/>
          <p:cNvSpPr/>
          <p:nvPr/>
        </p:nvSpPr>
        <p:spPr>
          <a:xfrm>
            <a:off x="457200" y="1143000"/>
            <a:ext cx="4023360" cy="3337560"/>
          </a:xfrm>
          <a:prstGeom prst="roundRect">
            <a:avLst>
              <a:gd name="adj" fmla="val 2192"/>
            </a:avLst>
          </a:prstGeom>
          <a:solidFill>
            <a:schemeClr val="bg2"/>
          </a:solidFill>
          <a:ln w="12700">
            <a:solidFill>
              <a:schemeClr val="bg2"/>
            </a:solidFill>
            <a:prstDash val="solid"/>
          </a:ln>
        </p:spPr>
      </p:sp>
      <p:sp>
        <p:nvSpPr>
          <p:cNvPr id="4" name="col-head-0"/>
          <p:cNvSpPr txBox="1"/>
          <p:nvPr/>
        </p:nvSpPr>
        <p:spPr>
          <a:xfrm>
            <a:off x="685800" y="1280160"/>
            <a:ext cx="3566160" cy="457200"/>
          </a:xfrm>
          <a:prstGeom prst="rect">
            <a:avLst/>
          </a:prstGeom>
          <a:noFill/>
          <a:ln/>
        </p:spPr>
        <p:txBody>
          <a:bodyPr wrap="square" lIns="0" tIns="0" rIns="0" bIns="0" rtlCol="0" anchor="ctr"/>
          <a:lstStyle/>
          <a:p>
            <a:pPr indent="0" marL="0">
              <a:buNone/>
            </a:pPr>
            <a:r>
              <a:rPr lang="en-US" sz="2000" b="1" dirty="0">
                <a:solidFill>
                  <a:schemeClr val="accent4"/>
                </a:solidFill>
              </a:rPr>
              <a:t>Challenges</a:t>
            </a:r>
            <a:endParaRPr lang="en-US" sz="2000" dirty="0"/>
          </a:p>
        </p:txBody>
      </p:sp>
      <p:sp>
        <p:nvSpPr>
          <p:cNvPr id="5" name="col-items-0"/>
          <p:cNvSpPr txBox="1"/>
          <p:nvPr/>
        </p:nvSpPr>
        <p:spPr>
          <a:xfrm>
            <a:off x="685800" y="1828800"/>
            <a:ext cx="3566160" cy="2514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Val 0.874 vs test 0.770: the test images are a different domain</a:t>
            </a:r>
            <a:endParaRPr lang="en-US" sz="1400" dirty="0"/>
          </a:p>
          <a:p>
            <a:pPr marL="342900" indent="-342900">
              <a:spcAft>
                <a:spcPts val="800"/>
              </a:spcAft>
              <a:buSzPct val="100000"/>
              <a:buChar char="•"/>
            </a:pPr>
            <a:r>
              <a:rPr lang="en-US" sz="1400" dirty="0">
                <a:solidFill>
                  <a:schemeClr val="tx1"/>
                </a:solidFill>
              </a:rPr>
              <a:t>Market1501 overfits after epoch 1 with equal sampling</a:t>
            </a:r>
            <a:endParaRPr lang="en-US" sz="1400" dirty="0"/>
          </a:p>
          <a:p>
            <a:pPr marL="342900" indent="-342900">
              <a:spcAft>
                <a:spcPts val="800"/>
              </a:spcAft>
              <a:buSzPct val="100000"/>
              <a:buChar char="•"/>
            </a:pPr>
            <a:r>
              <a:rPr lang="en-US" sz="1400" dirty="0">
                <a:solidFill>
                  <a:schemeClr val="tx1"/>
                </a:solidFill>
              </a:rPr>
              <a:t>One 8 GB GPU: ViT-L only with frozen lower blocks</a:t>
            </a:r>
            <a:endParaRPr lang="en-US" sz="1400" dirty="0"/>
          </a:p>
          <a:p>
            <a:pPr marL="342900" indent="-342900">
              <a:spcAft>
                <a:spcPts val="800"/>
              </a:spcAft>
              <a:buSzPct val="100000"/>
              <a:buChar char="•"/>
            </a:pPr>
            <a:r>
              <a:rPr lang="en-US" sz="1400" dirty="0">
                <a:solidFill>
                  <a:schemeClr val="tx1"/>
                </a:solidFill>
              </a:rPr>
              <a:t>Queue stalls, then the site went down</a:t>
            </a:r>
            <a:endParaRPr lang="en-US" sz="1400" dirty="0"/>
          </a:p>
        </p:txBody>
      </p:sp>
      <p:sp>
        <p:nvSpPr>
          <p:cNvPr id="6" name="col-card-1"/>
          <p:cNvSpPr/>
          <p:nvPr/>
        </p:nvSpPr>
        <p:spPr>
          <a:xfrm>
            <a:off x="4663440" y="1143000"/>
            <a:ext cx="4023360" cy="3337560"/>
          </a:xfrm>
          <a:prstGeom prst="roundRect">
            <a:avLst>
              <a:gd name="adj" fmla="val 2192"/>
            </a:avLst>
          </a:prstGeom>
          <a:solidFill>
            <a:schemeClr val="bg2"/>
          </a:solidFill>
          <a:ln w="12700">
            <a:solidFill>
              <a:schemeClr val="bg2"/>
            </a:solidFill>
            <a:prstDash val="solid"/>
          </a:ln>
        </p:spPr>
      </p:sp>
      <p:sp>
        <p:nvSpPr>
          <p:cNvPr id="7" name="col-head-1"/>
          <p:cNvSpPr txBox="1"/>
          <p:nvPr/>
        </p:nvSpPr>
        <p:spPr>
          <a:xfrm>
            <a:off x="4892040" y="1280160"/>
            <a:ext cx="3566160" cy="457200"/>
          </a:xfrm>
          <a:prstGeom prst="rect">
            <a:avLst/>
          </a:prstGeom>
          <a:noFill/>
          <a:ln/>
        </p:spPr>
        <p:txBody>
          <a:bodyPr wrap="square" lIns="0" tIns="0" rIns="0" bIns="0" rtlCol="0" anchor="ctr"/>
          <a:lstStyle/>
          <a:p>
            <a:pPr indent="0" marL="0">
              <a:buNone/>
            </a:pPr>
            <a:r>
              <a:rPr lang="en-US" sz="2000" b="1" dirty="0">
                <a:solidFill>
                  <a:schemeClr val="accent2"/>
                </a:solidFill>
              </a:rPr>
              <a:t>Next steps</a:t>
            </a:r>
            <a:endParaRPr lang="en-US" sz="2000" dirty="0"/>
          </a:p>
        </p:txBody>
      </p:sp>
      <p:sp>
        <p:nvSpPr>
          <p:cNvPr id="8" name="col-items-1"/>
          <p:cNvSpPr txBox="1"/>
          <p:nvPr/>
        </p:nvSpPr>
        <p:spPr>
          <a:xfrm>
            <a:off x="4892040" y="1828800"/>
            <a:ext cx="3566160" cy="2514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Fit offsets leaving one dataset out; shrink them (λ &lt; 1)</a:t>
            </a:r>
            <a:endParaRPr lang="en-US" sz="1400" dirty="0"/>
          </a:p>
          <a:p>
            <a:pPr marL="342900" indent="-342900">
              <a:spcAft>
                <a:spcPts val="800"/>
              </a:spcAft>
              <a:buSzPct val="100000"/>
              <a:buChar char="•"/>
            </a:pPr>
            <a:r>
              <a:rPr lang="en-US" sz="1400" dirty="0">
                <a:solidFill>
                  <a:schemeClr val="tx1"/>
                </a:solidFill>
              </a:rPr>
              <a:t>Stronger colour and style augmentation for new domains</a:t>
            </a:r>
            <a:endParaRPr lang="en-US" sz="1400" dirty="0"/>
          </a:p>
          <a:p>
            <a:pPr marL="342900" indent="-342900">
              <a:spcAft>
                <a:spcPts val="800"/>
              </a:spcAft>
              <a:buSzPct val="100000"/>
              <a:buChar char="•"/>
            </a:pPr>
            <a:r>
              <a:rPr lang="en-US" sz="1400" dirty="0">
                <a:solidFill>
                  <a:schemeClr val="tx1"/>
                </a:solidFill>
              </a:rPr>
              <a:t>Fully fine-tuned ViT-L and larger ensembles</a:t>
            </a:r>
            <a:endParaRPr lang="en-US" sz="1400" dirty="0"/>
          </a:p>
          <a:p>
            <a:pPr marL="342900" indent="-342900">
              <a:spcAft>
                <a:spcPts val="800"/>
              </a:spcAft>
              <a:buSzPct val="100000"/>
              <a:buChar char="•"/>
            </a:pPr>
            <a:r>
              <a:rPr lang="en-US" sz="1400" dirty="0">
                <a:solidFill>
                  <a:schemeClr val="tx1"/>
                </a:solidFill>
              </a:rPr>
              <a:t>Score the train+val models (sub05, sub08)</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Thank you</a:t>
            </a:r>
            <a:endParaRPr lang="en-US" sz="3800" dirty="0"/>
          </a:p>
        </p:txBody>
      </p:sp>
      <p:sp>
        <p:nvSpPr>
          <p:cNvPr id="3" name="Text 0"/>
          <p:cNvSpPr/>
          <p:nvPr>
            <p:ph idx="101" type="body" hasCustomPrompt="1"/>
          </p:nvPr>
        </p:nvSpPr>
        <p:spPr>
          <a:xfrm>
            <a:off x="548640" y="2926080"/>
            <a:ext cx="8046720" cy="1280160"/>
          </a:xfrm>
          <a:prstGeom prst="rect">
            <a:avLst/>
          </a:prstGeom>
          <a:noFill/>
          <a:ln/>
        </p:spPr>
        <p:txBody>
          <a:bodyPr wrap="square" lIns="0" tIns="0" rIns="0" bIns="0" rtlCol="0" anchor="t"/>
          <a:lstStyle/>
          <a:p>
            <a:pPr indent="0" marL="0">
              <a:buNone/>
            </a:pPr>
            <a:r>
              <a:rPr lang="en-US" sz="1800" dirty="0">
                <a:solidFill>
                  <a:schemeClr val="accent1"/>
                </a:solidFill>
              </a:rPr>
              <a:t>Valid submission scored 0.7699 on the hidden test set; best ensemble 0.8803 on val</a:t>
            </a:r>
            <a:endParaRPr lang="en-US" sz="1800" dirty="0"/>
          </a:p>
          <a:p>
            <a:pPr indent="0" marL="0">
              <a:buNone/>
            </a:pPr>
            <a:r>
              <a:rPr lang="en-US" sz="1600" dirty="0">
                <a:solidFill>
                  <a:schemeClr val="bg2"/>
                </a:solidFill>
              </a:rPr>
              <a:t>Code, results, report and proof of submission are in the repository</a:t>
            </a:r>
            <a:endParaRPr lang="en-US" sz="1800" dirty="0"/>
          </a:p>
        </p:txBody>
      </p:sp>
    </p:spTree>
  </p:cSld>
  <p:clrMapOvr>
    <a:masterClrMapping/>
  </p:clrMapOvr>
</p:sld>
</file>

<file path=ppt/theme/theme1.xml><?xml version="1.0" encoding="utf-8"?>
<a:theme xmlns:a="http://schemas.openxmlformats.org/drawingml/2006/main" name="UPAR Surveillance">
  <a:themeElements>
    <a:clrScheme name="UPAR Surveillance">
      <a:dk1>
        <a:srgbClr val="1E2328"/>
      </a:dk1>
      <a:lt1>
        <a:srgbClr val="FFFFFF"/>
      </a:lt1>
      <a:dk2>
        <a:srgbClr val="2B3A42"/>
      </a:dk2>
      <a:lt2>
        <a:srgbClr val="EEF1F3"/>
      </a:lt2>
      <a:accent1>
        <a:srgbClr val="E8A33D"/>
      </a:accent1>
      <a:accent2>
        <a:srgbClr val="2A9D8F"/>
      </a:accent2>
      <a:accent3>
        <a:srgbClr val="6C7A89"/>
      </a:accent3>
      <a:accent4>
        <a:srgbClr val="C8553D"/>
      </a:accent4>
      <a:accent5>
        <a:srgbClr val="8AB0AB"/>
      </a:accent5>
      <a:accent6>
        <a:srgbClr val="3D5A80"/>
      </a:accent6>
      <a:hlink>
        <a:srgbClr val="2A9D8F"/>
      </a:hlink>
      <a:folHlink>
        <a:srgbClr val="6C7A89"/>
      </a:folHlink>
    </a:clrScheme>
    <a:fontScheme name="UPAR Surveill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UPAR 2027 Track 1: Pedestrian Attribute Recognition</dc:title>
  <dc:subject>PptxGenJS Presentation</dc:subject>
  <dc:creator>Muhammad Ali, Fasih Hasan Khan</dc:creator>
  <cp:lastModifiedBy>Muhammad Ali, Fasih Hasan Khan</cp:lastModifiedBy>
  <cp:revision>1</cp:revision>
  <dcterms:created xsi:type="dcterms:W3CDTF">2026-10-22T16:31:42Z</dcterms:created>
  <dcterms:modified xsi:type="dcterms:W3CDTF">2026-10-22T16:31:42Z</dcterms:modified>
</cp:coreProperties>
</file>